
<file path=[Content_Types].xml><?xml version="1.0" encoding="utf-8"?>
<Types xmlns="http://schemas.openxmlformats.org/package/2006/content-types">
  <Default Extension="emf" ContentType="image/x-emf"/>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8" r:id="rId9"/>
    <p:sldId id="264" r:id="rId10"/>
    <p:sldId id="267"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45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83"/>
    <p:restoredTop sz="82618"/>
  </p:normalViewPr>
  <p:slideViewPr>
    <p:cSldViewPr snapToGrid="0" snapToObjects="1">
      <p:cViewPr>
        <p:scale>
          <a:sx n="78" d="100"/>
          <a:sy n="78" d="100"/>
        </p:scale>
        <p:origin x="568"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98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you the family-level comparison between Kraken2 and KrakenUniq. The headline is that the two tools agree very well on the global ecological signal — about 95 percent — but they diverge on individual families, mostly because of database naming conventions. I will walk you through how I built the comparison, what I had to clean, the two questions I asked, and what the results imply for our future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250 ancient DNA samples, each classified twice — once with Kraken2 against GTDB, once with KrakenUniq against MicrobialNT. The question I want to answer here is whether the two tools tell us the same biological story. This matters because any decision we make downstream — picking a tool for a community analysis, or for hunting a specific pathogen — depends on knowing where the two pipelines agree and where they don't.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work in five steps. Pre-processing on Dardel: FastQC, Cutadapt, paired-end merging — 250 cleaned FASTQs. Then two parallel classification runs: Kraken2 against GTDB and KrakenUniq against MicrobialNT, both as SLURM job arrays. I extracted family-level rows from every report and built two samples-by-families matrices on Dardel. Then I moved the matrices locally for the R analysis: cleaning, per-family Spearman, Bray-Curtis to PCoA to Procrustes. Today's talk lives in the rightmost block — the comparison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both classifiers see the same dominant biology: Burkholderia is the top genus under both, and the same samples are extreme in both — same maximum, same minimum sample. </a:t>
            </a:r>
          </a:p>
          <a:p>
            <a:r>
              <a:rPr lang="en-US" dirty="0"/>
              <a:t>Second, the matrices are very asymmetric: Kraken2 with GTDB reports more than 5,000 family categories, three times more than KrakenUniq, and most of those extras are alphanumeric placeholders for unnamed taxa. </a:t>
            </a:r>
          </a:p>
          <a:p>
            <a:r>
              <a:rPr lang="en-US" dirty="0"/>
              <a:t>So the raw counts already hint at a nomenclature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comparison I had to make four cleaning decisions. </a:t>
            </a:r>
          </a:p>
          <a:p>
            <a:r>
              <a:rPr lang="en-US" dirty="0"/>
              <a:t>One: I used the intersection of sample sets, not the union, to avoid zero-padding artifacts. </a:t>
            </a:r>
          </a:p>
          <a:p>
            <a:r>
              <a:rPr lang="en-US" dirty="0"/>
              <a:t>Two: I removed Hominidae, because Kraken2's database has no eukaryotes and human DNA was 43 percent of KrakenUniq's reads — keeping it would mask the microbial signal. </a:t>
            </a:r>
          </a:p>
          <a:p>
            <a:r>
              <a:rPr lang="en-US" dirty="0"/>
              <a:t>Three: one sample, P34558_1102, became all-zero in KrakenUniq after Hominidae was removed — biologically interesting, likely human-dominated, but unusable for cross-tool comparison. </a:t>
            </a:r>
          </a:p>
          <a:p>
            <a:r>
              <a:rPr lang="en-US" dirty="0"/>
              <a:t>Four: I row-normalized to relative abundance before Bray-Curtis, the standard in community ecology. The final dataset is 245 samples by 362 families that share the exact same name in both databases.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Spearman correlation between PC1 of the two ordinations is 0.945 with p less than 0.001. </a:t>
            </a:r>
          </a:p>
          <a:p>
            <a:r>
              <a:rPr lang="en-US" dirty="0"/>
              <a:t>The full Procrustes alignment over PC1 plus PC2 is 0.90, also significant. </a:t>
            </a:r>
          </a:p>
          <a:p>
            <a:r>
              <a:rPr lang="en-US" dirty="0"/>
              <a:t>When Kraken2 says two samples are similar, KrakenUniq says they are similar too, and the dominant biological gradient is the same.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median per-family Spearman is 0.28 across 201 valid families — that sounds modest, but the distribution has a strong tail: 19 families have rho above 0.8 and they are exactly the ones we'd expect — Burkholderiaceae, Gemmatimonadaceae, Rhodanobacteraceae and others, abundant environmental taxa in soil and dental samples. Look at the histogram: the bars on the right side, above 0.6, are taxa where the two tools are saying the same thing very clearly. The disagreement is concentrated in the left and middle of the distribution, on rare families.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B24E-0247-F810-C235-3C4B4098F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622FE-F8FE-182E-A5C2-BAA10D109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51B7F-EE77-F56D-406D-15ECE26752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41C15B-1028-7514-62E1-BAB3C8BE0AA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77335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Kraken2 with GTDB has more than 5,000 family-level categories that simply don't exist by that name in NCBI</a:t>
            </a:r>
          </a:p>
          <a:p>
            <a:r>
              <a:rPr lang="en-US" dirty="0" err="1"/>
              <a:t>KrakenUniq</a:t>
            </a:r>
            <a:r>
              <a:rPr lang="en-US" dirty="0"/>
              <a:t> adds about 1,300 names that don't exist in GTDB. </a:t>
            </a:r>
          </a:p>
          <a:p>
            <a:r>
              <a:rPr lang="en-US" dirty="0"/>
              <a:t>Outside of those 362 shared names, the disagreement isn't biological: it's that the two tools are calling the same organisms by different labels.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in three lines. One: globally, the two tools tell the same biological story — community structure is preserved, r equals 0.945. Two: locally, agreement is mostly limited by database naming, not by biology — same organisms, different labels. Three: pick the tool to fit the question — KrakenUniq for pathogens, either for community analyses. Open question for you, Gonzalo: do I look for Yersinia pestis and Tannerella forsythia in the existing reports next, or first aggregate to phylum to check whether the per-family disagreement was just a resolution issue?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22"/>
        </a:solidFill>
        <a:effectLst/>
      </p:bgPr>
    </p:bg>
    <p:spTree>
      <p:nvGrpSpPr>
        <p:cNvPr id="1" name=""/>
        <p:cNvGrpSpPr/>
        <p:nvPr/>
      </p:nvGrpSpPr>
      <p:grpSpPr>
        <a:xfrm>
          <a:off x="0" y="0"/>
          <a:ext cx="0" cy="0"/>
          <a:chOff x="0" y="0"/>
          <a:chExt cx="0" cy="0"/>
        </a:xfrm>
      </p:grpSpPr>
      <p:sp>
        <p:nvSpPr>
          <p:cNvPr id="2" name="Text 0"/>
          <p:cNvSpPr/>
          <p:nvPr/>
        </p:nvSpPr>
        <p:spPr>
          <a:xfrm>
            <a:off x="1047750" y="1047750"/>
            <a:ext cx="4617741" cy="211282"/>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8FA88F"/>
                </a:solidFill>
                <a:latin typeface="JetBrains Mono" pitchFamily="34" charset="0"/>
                <a:ea typeface="JetBrains Mono" pitchFamily="34" charset="-122"/>
                <a:cs typeface="JetBrains Mono" pitchFamily="34" charset="-120"/>
              </a:rPr>
              <a:t>CENTRE FOR PALAEOGENETICS</a:t>
            </a:r>
            <a:endParaRPr lang="en-US" sz="1050" dirty="0"/>
          </a:p>
        </p:txBody>
      </p:sp>
      <p:sp>
        <p:nvSpPr>
          <p:cNvPr id="3" name="Text 1"/>
          <p:cNvSpPr/>
          <p:nvPr/>
        </p:nvSpPr>
        <p:spPr>
          <a:xfrm>
            <a:off x="14929338" y="1047750"/>
            <a:ext cx="2425726" cy="211282"/>
          </a:xfrm>
          <a:prstGeom prst="rect">
            <a:avLst/>
          </a:prstGeom>
          <a:noFill/>
          <a:ln/>
        </p:spPr>
        <p:txBody>
          <a:bodyPr wrap="square" lIns="25400" tIns="25400" rIns="25400" bIns="25400" rtlCol="0" anchor="t">
            <a:normAutofit/>
          </a:bodyPr>
          <a:lstStyle/>
          <a:p>
            <a:pPr marL="0" indent="0" algn="l">
              <a:buNone/>
            </a:pPr>
            <a:r>
              <a:rPr lang="en-US" sz="1050" kern="0" spc="231" dirty="0">
                <a:solidFill>
                  <a:srgbClr val="8FA88F"/>
                </a:solidFill>
                <a:latin typeface="JetBrains Mono" pitchFamily="34" charset="0"/>
                <a:ea typeface="JetBrains Mono" pitchFamily="34" charset="-122"/>
                <a:cs typeface="JetBrains Mono" pitchFamily="34" charset="-120"/>
              </a:rPr>
              <a:t>PRESENTATION · APRIL 2026</a:t>
            </a:r>
            <a:endParaRPr lang="en-US" sz="1050" dirty="0"/>
          </a:p>
        </p:txBody>
      </p:sp>
      <p:sp>
        <p:nvSpPr>
          <p:cNvPr id="4" name="Text 2"/>
          <p:cNvSpPr/>
          <p:nvPr/>
        </p:nvSpPr>
        <p:spPr>
          <a:xfrm>
            <a:off x="1047750" y="3237282"/>
            <a:ext cx="16678275" cy="211282"/>
          </a:xfrm>
          <a:prstGeom prst="rect">
            <a:avLst/>
          </a:prstGeom>
          <a:noFill/>
          <a:ln/>
        </p:spPr>
        <p:txBody>
          <a:bodyPr wrap="square" lIns="25400" tIns="25400" rIns="25400" bIns="25400" rtlCol="0" anchor="t">
            <a:noAutofit/>
          </a:bodyPr>
          <a:lstStyle/>
          <a:p>
            <a:pPr marL="0" indent="0" algn="l">
              <a:buNone/>
            </a:pPr>
            <a:r>
              <a:rPr lang="en-US" sz="1600" kern="0" spc="231" dirty="0">
                <a:solidFill>
                  <a:srgbClr val="C49A3F"/>
                </a:solidFill>
                <a:latin typeface="JetBrains Mono" pitchFamily="34" charset="0"/>
                <a:ea typeface="JetBrains Mono" pitchFamily="34" charset="-122"/>
                <a:cs typeface="JetBrains Mono" pitchFamily="34" charset="-120"/>
              </a:rPr>
              <a:t>FAMILY-LEVEL COMPARISON</a:t>
            </a:r>
            <a:endParaRPr lang="en-US" sz="1600" dirty="0"/>
          </a:p>
        </p:txBody>
      </p:sp>
      <p:sp>
        <p:nvSpPr>
          <p:cNvPr id="5" name="Text 3"/>
          <p:cNvSpPr/>
          <p:nvPr/>
        </p:nvSpPr>
        <p:spPr>
          <a:xfrm>
            <a:off x="1047750" y="3677137"/>
            <a:ext cx="16678275" cy="1542211"/>
          </a:xfrm>
          <a:prstGeom prst="rect">
            <a:avLst/>
          </a:prstGeom>
          <a:noFill/>
          <a:ln/>
        </p:spPr>
        <p:txBody>
          <a:bodyPr wrap="square" lIns="25400" tIns="25400" rIns="25400" bIns="25400" rtlCol="0" anchor="t">
            <a:normAutofit fontScale="92500" lnSpcReduction="20000"/>
          </a:bodyPr>
          <a:lstStyle/>
          <a:p>
            <a:pPr marL="0" indent="0" algn="l">
              <a:lnSpc>
                <a:spcPct val="94000"/>
              </a:lnSpc>
              <a:buNone/>
            </a:pPr>
            <a:r>
              <a:rPr lang="en-US" sz="12600" kern="0" spc="-441" dirty="0">
                <a:solidFill>
                  <a:srgbClr val="F2EFE5"/>
                </a:solidFill>
                <a:latin typeface="Fraunces" pitchFamily="34" charset="0"/>
                <a:ea typeface="Fraunces" pitchFamily="34" charset="-122"/>
                <a:cs typeface="Fraunces" pitchFamily="34" charset="-120"/>
              </a:rPr>
              <a:t>Kraken2</a:t>
            </a:r>
            <a:r>
              <a:rPr lang="en-US" sz="12600" kern="0" spc="-441" dirty="0">
                <a:solidFill>
                  <a:srgbClr val="8FA88F"/>
                </a:solidFill>
                <a:latin typeface="Fraunces" pitchFamily="34" charset="0"/>
                <a:ea typeface="Fraunces" pitchFamily="34" charset="-122"/>
                <a:cs typeface="Fraunces" pitchFamily="34" charset="-120"/>
              </a:rPr>
              <a:t>/</a:t>
            </a:r>
            <a:r>
              <a:rPr lang="en-US" sz="12600" i="1" kern="0" spc="-441" dirty="0">
                <a:solidFill>
                  <a:srgbClr val="C49A3F"/>
                </a:solidFill>
                <a:latin typeface="Fraunces" pitchFamily="34" charset="0"/>
                <a:ea typeface="Fraunces" pitchFamily="34" charset="-122"/>
                <a:cs typeface="Fraunces" pitchFamily="34" charset="-120"/>
              </a:rPr>
              <a:t>KrakenUniq</a:t>
            </a:r>
            <a:endParaRPr lang="en-US" sz="12600" dirty="0"/>
          </a:p>
        </p:txBody>
      </p:sp>
      <p:sp>
        <p:nvSpPr>
          <p:cNvPr id="6" name="Text 4"/>
          <p:cNvSpPr/>
          <p:nvPr/>
        </p:nvSpPr>
        <p:spPr>
          <a:xfrm>
            <a:off x="1047751" y="5486008"/>
            <a:ext cx="13671140" cy="666835"/>
          </a:xfrm>
          <a:prstGeom prst="rect">
            <a:avLst/>
          </a:prstGeom>
          <a:noFill/>
          <a:ln/>
        </p:spPr>
        <p:txBody>
          <a:bodyPr wrap="square" lIns="25400" tIns="25400" rIns="25400" bIns="25400" rtlCol="0" anchor="t">
            <a:normAutofit/>
          </a:bodyPr>
          <a:lstStyle/>
          <a:p>
            <a:pPr marL="0" indent="0" algn="l">
              <a:lnSpc>
                <a:spcPct val="125000"/>
              </a:lnSpc>
              <a:buNone/>
            </a:pPr>
            <a:r>
              <a:rPr lang="en-US" sz="2700" i="1" dirty="0">
                <a:solidFill>
                  <a:srgbClr val="8FA88F"/>
                </a:solidFill>
                <a:latin typeface="Fraunces" pitchFamily="34" charset="0"/>
                <a:ea typeface="Fraunces" pitchFamily="34" charset="-122"/>
                <a:cs typeface="Fraunces" pitchFamily="34" charset="-120"/>
              </a:rPr>
              <a:t>Do two metagenomic classifiers tell us the same biological story across 250 ancient DNA samples?</a:t>
            </a:r>
            <a:endParaRPr lang="en-US" sz="2700" dirty="0"/>
          </a:p>
        </p:txBody>
      </p:sp>
      <p:sp>
        <p:nvSpPr>
          <p:cNvPr id="7" name="Shape 5"/>
          <p:cNvSpPr/>
          <p:nvPr/>
        </p:nvSpPr>
        <p:spPr>
          <a:xfrm>
            <a:off x="1047750" y="8359540"/>
            <a:ext cx="16192500" cy="9525"/>
          </a:xfrm>
          <a:prstGeom prst="rect">
            <a:avLst/>
          </a:prstGeom>
          <a:solidFill>
            <a:srgbClr val="2F4438"/>
          </a:solidFill>
          <a:ln/>
        </p:spPr>
        <p:txBody>
          <a:bodyPr/>
          <a:lstStyle/>
          <a:p>
            <a:endParaRPr lang="en-IT"/>
          </a:p>
        </p:txBody>
      </p:sp>
      <p:sp>
        <p:nvSpPr>
          <p:cNvPr id="8" name="Text 6"/>
          <p:cNvSpPr/>
          <p:nvPr/>
        </p:nvSpPr>
        <p:spPr>
          <a:xfrm>
            <a:off x="1047750" y="8711045"/>
            <a:ext cx="2379586" cy="189634"/>
          </a:xfrm>
          <a:prstGeom prst="rect">
            <a:avLst/>
          </a:prstGeom>
          <a:noFill/>
          <a:ln/>
        </p:spPr>
        <p:txBody>
          <a:bodyPr wrap="square" lIns="25400" tIns="25400" rIns="25400" bIns="25400" rtlCol="0" anchor="t">
            <a:normAutofit lnSpcReduction="10000"/>
          </a:bodyPr>
          <a:lstStyle/>
          <a:p>
            <a:pPr marL="0" indent="0" algn="l">
              <a:buNone/>
            </a:pPr>
            <a:r>
              <a:rPr lang="en-US" sz="975" kern="0" spc="195" dirty="0">
                <a:solidFill>
                  <a:srgbClr val="6F8276"/>
                </a:solidFill>
                <a:latin typeface="Inter" pitchFamily="34" charset="0"/>
                <a:ea typeface="Inter" pitchFamily="34" charset="-122"/>
                <a:cs typeface="Inter" pitchFamily="34" charset="-120"/>
              </a:rPr>
              <a:t>AUTHOR</a:t>
            </a:r>
            <a:endParaRPr lang="en-US" sz="975" dirty="0"/>
          </a:p>
        </p:txBody>
      </p:sp>
      <p:sp>
        <p:nvSpPr>
          <p:cNvPr id="9" name="Text 7"/>
          <p:cNvSpPr/>
          <p:nvPr/>
        </p:nvSpPr>
        <p:spPr>
          <a:xfrm>
            <a:off x="1047750" y="8957829"/>
            <a:ext cx="2379586" cy="3195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2EFE5"/>
                </a:solidFill>
                <a:latin typeface="Fraunces" pitchFamily="34" charset="0"/>
                <a:ea typeface="Fraunces" pitchFamily="34" charset="-122"/>
                <a:cs typeface="Fraunces" pitchFamily="34" charset="-120"/>
              </a:rPr>
              <a:t>Mariagiulia Martinelli</a:t>
            </a:r>
            <a:endParaRPr lang="en-US" sz="1800" dirty="0"/>
          </a:p>
        </p:txBody>
      </p:sp>
      <p:sp>
        <p:nvSpPr>
          <p:cNvPr id="10" name="Text 8"/>
          <p:cNvSpPr/>
          <p:nvPr/>
        </p:nvSpPr>
        <p:spPr>
          <a:xfrm>
            <a:off x="4113136" y="8711045"/>
            <a:ext cx="2124075" cy="189634"/>
          </a:xfrm>
          <a:prstGeom prst="rect">
            <a:avLst/>
          </a:prstGeom>
          <a:noFill/>
          <a:ln/>
        </p:spPr>
        <p:txBody>
          <a:bodyPr wrap="square" lIns="25400" tIns="25400" rIns="25400" bIns="25400" rtlCol="0" anchor="t">
            <a:normAutofit lnSpcReduction="10000"/>
          </a:bodyPr>
          <a:lstStyle/>
          <a:p>
            <a:pPr marL="0" indent="0" algn="l">
              <a:buNone/>
            </a:pPr>
            <a:r>
              <a:rPr lang="en-US" sz="975" kern="0" spc="195" dirty="0">
                <a:solidFill>
                  <a:srgbClr val="6F8276"/>
                </a:solidFill>
                <a:latin typeface="Inter" pitchFamily="34" charset="0"/>
                <a:ea typeface="Inter" pitchFamily="34" charset="-122"/>
                <a:cs typeface="Inter" pitchFamily="34" charset="-120"/>
              </a:rPr>
              <a:t>CLUSTER</a:t>
            </a:r>
            <a:endParaRPr lang="en-US" sz="975" dirty="0"/>
          </a:p>
        </p:txBody>
      </p:sp>
      <p:sp>
        <p:nvSpPr>
          <p:cNvPr id="11" name="Text 9"/>
          <p:cNvSpPr/>
          <p:nvPr/>
        </p:nvSpPr>
        <p:spPr>
          <a:xfrm>
            <a:off x="4113136" y="8957829"/>
            <a:ext cx="2124075" cy="3195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2EFE5"/>
                </a:solidFill>
                <a:latin typeface="Fraunces" pitchFamily="34" charset="0"/>
                <a:ea typeface="Fraunces" pitchFamily="34" charset="-122"/>
                <a:cs typeface="Fraunces" pitchFamily="34" charset="-120"/>
              </a:rPr>
              <a:t>Dardel · PDC · KTH</a:t>
            </a:r>
            <a:endParaRPr lang="en-US" sz="1800" dirty="0"/>
          </a:p>
        </p:txBody>
      </p:sp>
      <p:sp>
        <p:nvSpPr>
          <p:cNvPr id="12" name="Text 10"/>
          <p:cNvSpPr/>
          <p:nvPr/>
        </p:nvSpPr>
        <p:spPr>
          <a:xfrm>
            <a:off x="6923011" y="8711045"/>
            <a:ext cx="2238740" cy="189634"/>
          </a:xfrm>
          <a:prstGeom prst="rect">
            <a:avLst/>
          </a:prstGeom>
          <a:noFill/>
          <a:ln/>
        </p:spPr>
        <p:txBody>
          <a:bodyPr wrap="square" lIns="25400" tIns="25400" rIns="25400" bIns="25400" rtlCol="0" anchor="t">
            <a:normAutofit lnSpcReduction="10000"/>
          </a:bodyPr>
          <a:lstStyle/>
          <a:p>
            <a:pPr marL="0" indent="0" algn="l">
              <a:buNone/>
            </a:pPr>
            <a:r>
              <a:rPr lang="en-US" sz="975" kern="0" spc="195" dirty="0">
                <a:solidFill>
                  <a:srgbClr val="6F8276"/>
                </a:solidFill>
                <a:latin typeface="Inter" pitchFamily="34" charset="0"/>
                <a:ea typeface="Inter" pitchFamily="34" charset="-122"/>
                <a:cs typeface="Inter" pitchFamily="34" charset="-120"/>
              </a:rPr>
              <a:t>DATABASES</a:t>
            </a:r>
            <a:endParaRPr lang="en-US" sz="975" dirty="0"/>
          </a:p>
        </p:txBody>
      </p:sp>
      <p:sp>
        <p:nvSpPr>
          <p:cNvPr id="13" name="Text 11"/>
          <p:cNvSpPr/>
          <p:nvPr/>
        </p:nvSpPr>
        <p:spPr>
          <a:xfrm>
            <a:off x="6923011" y="8957829"/>
            <a:ext cx="2238740" cy="3195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2EFE5"/>
                </a:solidFill>
                <a:latin typeface="Fraunces" pitchFamily="34" charset="0"/>
                <a:ea typeface="Fraunces" pitchFamily="34" charset="-122"/>
                <a:cs typeface="Fraunces" pitchFamily="34" charset="-120"/>
              </a:rPr>
              <a:t>GTDB · MicrobialNT</a:t>
            </a:r>
            <a:endParaRPr lang="en-US" sz="1800" dirty="0"/>
          </a:p>
        </p:txBody>
      </p:sp>
      <p:sp>
        <p:nvSpPr>
          <p:cNvPr id="14" name="Text 12"/>
          <p:cNvSpPr/>
          <p:nvPr/>
        </p:nvSpPr>
        <p:spPr>
          <a:xfrm>
            <a:off x="9847551" y="8711045"/>
            <a:ext cx="2307675" cy="189634"/>
          </a:xfrm>
          <a:prstGeom prst="rect">
            <a:avLst/>
          </a:prstGeom>
          <a:noFill/>
          <a:ln/>
        </p:spPr>
        <p:txBody>
          <a:bodyPr wrap="square" lIns="25400" tIns="25400" rIns="25400" bIns="25400" rtlCol="0" anchor="t">
            <a:normAutofit lnSpcReduction="10000"/>
          </a:bodyPr>
          <a:lstStyle/>
          <a:p>
            <a:pPr marL="0" indent="0" algn="l">
              <a:buNone/>
            </a:pPr>
            <a:r>
              <a:rPr lang="en-US" sz="975" kern="0" spc="195" dirty="0">
                <a:solidFill>
                  <a:srgbClr val="6F8276"/>
                </a:solidFill>
                <a:latin typeface="Inter" pitchFamily="34" charset="0"/>
                <a:ea typeface="Inter" pitchFamily="34" charset="-122"/>
                <a:cs typeface="Inter" pitchFamily="34" charset="-120"/>
              </a:rPr>
              <a:t>SUPERVISOR</a:t>
            </a:r>
            <a:endParaRPr lang="en-US" sz="975" dirty="0"/>
          </a:p>
        </p:txBody>
      </p:sp>
      <p:sp>
        <p:nvSpPr>
          <p:cNvPr id="15" name="Text 13"/>
          <p:cNvSpPr/>
          <p:nvPr/>
        </p:nvSpPr>
        <p:spPr>
          <a:xfrm>
            <a:off x="9847551" y="8957829"/>
            <a:ext cx="2307675" cy="3195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2EFE5"/>
                </a:solidFill>
                <a:latin typeface="Fraunces" pitchFamily="34" charset="0"/>
                <a:ea typeface="Fraunces" pitchFamily="34" charset="-122"/>
                <a:cs typeface="Fraunces" pitchFamily="34" charset="-120"/>
              </a:rPr>
              <a:t>Gonzalo Oteo-García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01 · THE QUESTION</a:t>
            </a:r>
            <a:endParaRPr lang="en-US" sz="1600" dirty="0"/>
          </a:p>
        </p:txBody>
      </p:sp>
      <p:sp>
        <p:nvSpPr>
          <p:cNvPr id="3" name="Text 1"/>
          <p:cNvSpPr/>
          <p:nvPr/>
        </p:nvSpPr>
        <p:spPr>
          <a:xfrm>
            <a:off x="1047750" y="1349858"/>
            <a:ext cx="16678275"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Two classifiers, one set of samples.</a:t>
            </a:r>
            <a:endParaRPr lang="en-US" sz="4200" dirty="0"/>
          </a:p>
        </p:txBody>
      </p:sp>
      <p:grpSp>
        <p:nvGrpSpPr>
          <p:cNvPr id="14" name="Group 13">
            <a:extLst>
              <a:ext uri="{FF2B5EF4-FFF2-40B4-BE49-F238E27FC236}">
                <a16:creationId xmlns:a16="http://schemas.microsoft.com/office/drawing/2014/main" id="{1818B8E0-8617-9939-66AE-ADD951B419AD}"/>
              </a:ext>
            </a:extLst>
          </p:cNvPr>
          <p:cNvGrpSpPr/>
          <p:nvPr/>
        </p:nvGrpSpPr>
        <p:grpSpPr>
          <a:xfrm>
            <a:off x="1047750" y="3961726"/>
            <a:ext cx="4689090" cy="2275141"/>
            <a:chOff x="1047750" y="3837885"/>
            <a:chExt cx="4689090" cy="2275141"/>
          </a:xfrm>
        </p:grpSpPr>
        <p:sp>
          <p:nvSpPr>
            <p:cNvPr id="4" name="Text 2"/>
            <p:cNvSpPr/>
            <p:nvPr/>
          </p:nvSpPr>
          <p:spPr>
            <a:xfrm>
              <a:off x="1047750" y="3837885"/>
              <a:ext cx="3372905" cy="376670"/>
            </a:xfrm>
            <a:prstGeom prst="rect">
              <a:avLst/>
            </a:prstGeom>
            <a:noFill/>
            <a:ln/>
          </p:spPr>
          <p:txBody>
            <a:bodyPr wrap="square" lIns="25400" tIns="25400" rIns="25400" bIns="25400" rtlCol="0" anchor="t">
              <a:noAutofit/>
            </a:bodyPr>
            <a:lstStyle/>
            <a:p>
              <a:pPr marL="0" indent="0" algn="l">
                <a:buNone/>
              </a:pPr>
              <a:r>
                <a:rPr lang="en-US" kern="0" spc="189" dirty="0">
                  <a:solidFill>
                    <a:srgbClr val="5C6B61"/>
                  </a:solidFill>
                  <a:latin typeface="JetBrains Mono" pitchFamily="34" charset="0"/>
                  <a:ea typeface="JetBrains Mono" pitchFamily="34" charset="-122"/>
                  <a:cs typeface="JetBrains Mono" pitchFamily="34" charset="-120"/>
                </a:rPr>
                <a:t>ANCIENT DNA SAMPLES</a:t>
              </a:r>
              <a:endParaRPr lang="en-US" dirty="0"/>
            </a:p>
          </p:txBody>
        </p:sp>
        <p:sp>
          <p:nvSpPr>
            <p:cNvPr id="5" name="Text 3"/>
            <p:cNvSpPr/>
            <p:nvPr/>
          </p:nvSpPr>
          <p:spPr>
            <a:xfrm>
              <a:off x="1047750" y="4375976"/>
              <a:ext cx="2702622" cy="1535048"/>
            </a:xfrm>
            <a:prstGeom prst="rect">
              <a:avLst/>
            </a:prstGeom>
            <a:noFill/>
            <a:ln/>
          </p:spPr>
          <p:txBody>
            <a:bodyPr wrap="square" lIns="25400" tIns="25400" rIns="25400" bIns="25400" rtlCol="0" anchor="t">
              <a:normAutofit fontScale="85000" lnSpcReduction="20000"/>
            </a:bodyPr>
            <a:lstStyle/>
            <a:p>
              <a:pPr marL="0" indent="0" algn="l">
                <a:lnSpc>
                  <a:spcPct val="95000"/>
                </a:lnSpc>
                <a:buNone/>
              </a:pPr>
              <a:r>
                <a:rPr lang="en-US" sz="13900" kern="0" spc="-720" dirty="0">
                  <a:solidFill>
                    <a:srgbClr val="2F4632"/>
                  </a:solidFill>
                  <a:latin typeface="Fraunces" pitchFamily="34" charset="0"/>
                  <a:ea typeface="Fraunces" pitchFamily="34" charset="-122"/>
                  <a:cs typeface="Fraunces" pitchFamily="34" charset="-120"/>
                </a:rPr>
                <a:t>250</a:t>
              </a:r>
              <a:endParaRPr lang="en-US" sz="24000" dirty="0"/>
            </a:p>
          </p:txBody>
        </p:sp>
        <p:sp>
          <p:nvSpPr>
            <p:cNvPr id="6" name="Text 4"/>
            <p:cNvSpPr/>
            <p:nvPr/>
          </p:nvSpPr>
          <p:spPr>
            <a:xfrm>
              <a:off x="1047750" y="5736356"/>
              <a:ext cx="4689090" cy="376670"/>
            </a:xfrm>
            <a:prstGeom prst="rect">
              <a:avLst/>
            </a:prstGeom>
            <a:noFill/>
            <a:ln/>
          </p:spPr>
          <p:txBody>
            <a:bodyPr wrap="square" lIns="25400" tIns="25400" rIns="25400" bIns="25400" rtlCol="0" anchor="t">
              <a:normAutofit fontScale="92500" lnSpcReduction="10000"/>
            </a:bodyPr>
            <a:lstStyle/>
            <a:p>
              <a:pPr marL="0" indent="0" algn="l">
                <a:buNone/>
              </a:pPr>
              <a:r>
                <a:rPr lang="en-US" sz="2400" i="1" dirty="0">
                  <a:solidFill>
                    <a:srgbClr val="2F4438"/>
                  </a:solidFill>
                  <a:latin typeface="Fraunces" pitchFamily="34" charset="0"/>
                  <a:ea typeface="Fraunces" pitchFamily="34" charset="-122"/>
                  <a:cs typeface="Fraunces" pitchFamily="34" charset="-120"/>
                </a:rPr>
                <a:t>classified by </a:t>
              </a:r>
              <a:r>
                <a:rPr lang="en-US" sz="2400" b="1" dirty="0">
                  <a:solidFill>
                    <a:srgbClr val="4A6B4F"/>
                  </a:solidFill>
                  <a:latin typeface="Fraunces" pitchFamily="34" charset="0"/>
                  <a:ea typeface="Fraunces" pitchFamily="34" charset="-122"/>
                  <a:cs typeface="Fraunces" pitchFamily="34" charset="-120"/>
                </a:rPr>
                <a:t>two tools </a:t>
              </a:r>
              <a:r>
                <a:rPr lang="en-US" sz="2400" i="1" dirty="0">
                  <a:solidFill>
                    <a:srgbClr val="2F4438"/>
                  </a:solidFill>
                  <a:latin typeface="Fraunces" pitchFamily="34" charset="0"/>
                  <a:ea typeface="Fraunces" pitchFamily="34" charset="-122"/>
                  <a:cs typeface="Fraunces" pitchFamily="34" charset="-120"/>
                </a:rPr>
                <a:t>at family level</a:t>
              </a:r>
              <a:endParaRPr lang="en-US" sz="2400" dirty="0"/>
            </a:p>
          </p:txBody>
        </p:sp>
      </p:grpSp>
      <p:sp>
        <p:nvSpPr>
          <p:cNvPr id="7" name="Shape 5"/>
          <p:cNvSpPr/>
          <p:nvPr/>
        </p:nvSpPr>
        <p:spPr>
          <a:xfrm>
            <a:off x="5736840" y="3506973"/>
            <a:ext cx="25977" cy="3680925"/>
          </a:xfrm>
          <a:prstGeom prst="rect">
            <a:avLst/>
          </a:prstGeom>
          <a:solidFill>
            <a:srgbClr val="4A6B4F"/>
          </a:solidFill>
          <a:ln/>
        </p:spPr>
        <p:txBody>
          <a:bodyPr/>
          <a:lstStyle/>
          <a:p>
            <a:endParaRPr lang="en-IT"/>
          </a:p>
        </p:txBody>
      </p:sp>
      <p:sp>
        <p:nvSpPr>
          <p:cNvPr id="8" name="Text 6"/>
          <p:cNvSpPr/>
          <p:nvPr/>
        </p:nvSpPr>
        <p:spPr>
          <a:xfrm>
            <a:off x="6105663" y="4844416"/>
            <a:ext cx="11134587" cy="598167"/>
          </a:xfrm>
          <a:prstGeom prst="rect">
            <a:avLst/>
          </a:prstGeom>
          <a:noFill/>
          <a:ln/>
        </p:spPr>
        <p:txBody>
          <a:bodyPr wrap="square" lIns="25400" tIns="25400" rIns="25400" bIns="25400" rtlCol="0" anchor="t">
            <a:normAutofit/>
          </a:bodyPr>
          <a:lstStyle/>
          <a:p>
            <a:pPr marL="0" indent="0" algn="l">
              <a:buNone/>
            </a:pPr>
            <a:r>
              <a:rPr lang="en-US" sz="3200" kern="0" spc="-63" dirty="0">
                <a:solidFill>
                  <a:srgbClr val="1B2A22"/>
                </a:solidFill>
                <a:latin typeface="Fraunces" pitchFamily="34" charset="0"/>
                <a:ea typeface="Fraunces" pitchFamily="34" charset="-122"/>
                <a:cs typeface="Fraunces" pitchFamily="34" charset="-120"/>
              </a:rPr>
              <a:t>Are Kraken2 and KrakenUniq giving us the </a:t>
            </a:r>
            <a:r>
              <a:rPr lang="en-US" sz="3200" i="1" kern="0" spc="-63" dirty="0">
                <a:solidFill>
                  <a:srgbClr val="4A6B4F"/>
                </a:solidFill>
                <a:latin typeface="Fraunces" pitchFamily="34" charset="0"/>
                <a:ea typeface="Fraunces" pitchFamily="34" charset="-122"/>
                <a:cs typeface="Fraunces" pitchFamily="34" charset="-120"/>
              </a:rPr>
              <a:t>same biological picture?</a:t>
            </a:r>
            <a:endParaRPr lang="en-US" sz="3200" dirty="0"/>
          </a:p>
        </p:txBody>
      </p:sp>
      <p:sp>
        <p:nvSpPr>
          <p:cNvPr id="10" name="Text 8"/>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02 · THE WORKFLOW</a:t>
            </a:r>
            <a:endParaRPr lang="en-US" sz="1600" dirty="0"/>
          </a:p>
        </p:txBody>
      </p:sp>
      <p:sp>
        <p:nvSpPr>
          <p:cNvPr id="3" name="Text 1"/>
          <p:cNvSpPr/>
          <p:nvPr/>
        </p:nvSpPr>
        <p:spPr>
          <a:xfrm>
            <a:off x="1047751" y="1343596"/>
            <a:ext cx="9715500"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Five steps from raw reads to a comparison matrix</a:t>
            </a:r>
            <a:endParaRPr lang="en-US" sz="4200" dirty="0"/>
          </a:p>
        </p:txBody>
      </p:sp>
      <p:grpSp>
        <p:nvGrpSpPr>
          <p:cNvPr id="44" name="Group 43">
            <a:extLst>
              <a:ext uri="{FF2B5EF4-FFF2-40B4-BE49-F238E27FC236}">
                <a16:creationId xmlns:a16="http://schemas.microsoft.com/office/drawing/2014/main" id="{0A2696A8-D018-FFF3-3754-9EBA095F3159}"/>
              </a:ext>
            </a:extLst>
          </p:cNvPr>
          <p:cNvGrpSpPr/>
          <p:nvPr/>
        </p:nvGrpSpPr>
        <p:grpSpPr>
          <a:xfrm>
            <a:off x="2800336" y="8313117"/>
            <a:ext cx="12687327" cy="879980"/>
            <a:chOff x="1047750" y="8359269"/>
            <a:chExt cx="12687327" cy="879980"/>
          </a:xfrm>
        </p:grpSpPr>
        <p:sp>
          <p:nvSpPr>
            <p:cNvPr id="39" name="Shape 32"/>
            <p:cNvSpPr/>
            <p:nvPr/>
          </p:nvSpPr>
          <p:spPr>
            <a:xfrm>
              <a:off x="1047750" y="8359269"/>
              <a:ext cx="12687327" cy="879980"/>
            </a:xfrm>
            <a:prstGeom prst="rect">
              <a:avLst/>
            </a:prstGeom>
            <a:solidFill>
              <a:srgbClr val="2F4632"/>
            </a:solidFill>
            <a:ln/>
          </p:spPr>
          <p:txBody>
            <a:bodyPr/>
            <a:lstStyle/>
            <a:p>
              <a:endParaRPr lang="en-IT"/>
            </a:p>
          </p:txBody>
        </p:sp>
        <p:sp>
          <p:nvSpPr>
            <p:cNvPr id="40" name="Text 33"/>
            <p:cNvSpPr/>
            <p:nvPr/>
          </p:nvSpPr>
          <p:spPr>
            <a:xfrm>
              <a:off x="1323082" y="8697946"/>
              <a:ext cx="1109389" cy="202623"/>
            </a:xfrm>
            <a:prstGeom prst="rect">
              <a:avLst/>
            </a:prstGeom>
            <a:noFill/>
            <a:ln/>
          </p:spPr>
          <p:txBody>
            <a:bodyPr wrap="square" lIns="25400" tIns="25400" rIns="25400" bIns="25400" rtlCol="0" anchor="t">
              <a:noAutofit/>
            </a:bodyPr>
            <a:lstStyle/>
            <a:p>
              <a:pPr marL="0" indent="0" algn="l">
                <a:buNone/>
              </a:pPr>
              <a:r>
                <a:rPr lang="en-US" sz="1200" kern="0" spc="195" dirty="0">
                  <a:solidFill>
                    <a:srgbClr val="8FA88F"/>
                  </a:solidFill>
                  <a:latin typeface="JetBrains Mono" pitchFamily="34" charset="0"/>
                  <a:ea typeface="JetBrains Mono" pitchFamily="34" charset="-122"/>
                  <a:cs typeface="JetBrains Mono" pitchFamily="34" charset="-120"/>
                </a:rPr>
                <a:t>TAKE-HOME</a:t>
              </a:r>
              <a:endParaRPr lang="en-US" sz="1200" dirty="0"/>
            </a:p>
          </p:txBody>
        </p:sp>
        <p:sp>
          <p:nvSpPr>
            <p:cNvPr id="41" name="Text 34"/>
            <p:cNvSpPr/>
            <p:nvPr/>
          </p:nvSpPr>
          <p:spPr>
            <a:xfrm>
              <a:off x="4473560" y="8612785"/>
              <a:ext cx="7473176" cy="349484"/>
            </a:xfrm>
            <a:prstGeom prst="rect">
              <a:avLst/>
            </a:prstGeom>
            <a:noFill/>
            <a:ln/>
          </p:spPr>
          <p:txBody>
            <a:bodyPr wrap="square" lIns="25400" tIns="25400" rIns="25400" bIns="25400" rtlCol="0" anchor="t">
              <a:normAutofit fontScale="85000" lnSpcReduction="20000"/>
            </a:bodyPr>
            <a:lstStyle/>
            <a:p>
              <a:pPr marL="0" indent="0" algn="l">
                <a:lnSpc>
                  <a:spcPct val="130000"/>
                </a:lnSpc>
                <a:buNone/>
              </a:pPr>
              <a:r>
                <a:rPr lang="en-US" sz="2100" i="1" dirty="0">
                  <a:solidFill>
                    <a:srgbClr val="F5F2EA"/>
                  </a:solidFill>
                  <a:latin typeface="Fraunces" pitchFamily="34" charset="0"/>
                  <a:ea typeface="Fraunces" pitchFamily="34" charset="-122"/>
                  <a:cs typeface="Fraunces" pitchFamily="34" charset="-120"/>
                </a:rPr>
                <a:t>Same input, two parallel pipelines, two matrices</a:t>
              </a:r>
              <a:endParaRPr lang="en-US" sz="2100" dirty="0"/>
            </a:p>
          </p:txBody>
        </p:sp>
      </p:grpSp>
      <p:sp>
        <p:nvSpPr>
          <p:cNvPr id="42" name="Text 35"/>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grpSp>
        <p:nvGrpSpPr>
          <p:cNvPr id="61" name="Group 60">
            <a:extLst>
              <a:ext uri="{FF2B5EF4-FFF2-40B4-BE49-F238E27FC236}">
                <a16:creationId xmlns:a16="http://schemas.microsoft.com/office/drawing/2014/main" id="{1ECA4399-DE33-FB8E-32DC-05DFE1A08913}"/>
              </a:ext>
            </a:extLst>
          </p:cNvPr>
          <p:cNvGrpSpPr/>
          <p:nvPr/>
        </p:nvGrpSpPr>
        <p:grpSpPr>
          <a:xfrm>
            <a:off x="1047750" y="2209571"/>
            <a:ext cx="2971827" cy="5340156"/>
            <a:chOff x="1047750" y="2209571"/>
            <a:chExt cx="2971827" cy="5340156"/>
          </a:xfrm>
        </p:grpSpPr>
        <p:grpSp>
          <p:nvGrpSpPr>
            <p:cNvPr id="45" name="Group 44">
              <a:extLst>
                <a:ext uri="{FF2B5EF4-FFF2-40B4-BE49-F238E27FC236}">
                  <a16:creationId xmlns:a16="http://schemas.microsoft.com/office/drawing/2014/main" id="{93AB216C-C145-F46B-7D39-E19DC5FC0F35}"/>
                </a:ext>
              </a:extLst>
            </p:cNvPr>
            <p:cNvGrpSpPr/>
            <p:nvPr/>
          </p:nvGrpSpPr>
          <p:grpSpPr>
            <a:xfrm>
              <a:off x="1047750" y="2209571"/>
              <a:ext cx="2971827" cy="5340156"/>
              <a:chOff x="1047750" y="2209571"/>
              <a:chExt cx="2971827" cy="5340156"/>
            </a:xfrm>
          </p:grpSpPr>
          <p:sp>
            <p:nvSpPr>
              <p:cNvPr id="4" name="Shape 2"/>
              <p:cNvSpPr/>
              <p:nvPr/>
            </p:nvSpPr>
            <p:spPr>
              <a:xfrm>
                <a:off x="1047750" y="2209571"/>
                <a:ext cx="2971827" cy="5340156"/>
              </a:xfrm>
              <a:prstGeom prst="rect">
                <a:avLst/>
              </a:prstGeom>
              <a:solidFill>
                <a:srgbClr val="FFFFFF"/>
              </a:solidFill>
              <a:ln w="8659">
                <a:solidFill>
                  <a:srgbClr val="D7D2C5"/>
                </a:solidFill>
                <a:prstDash val="solid"/>
              </a:ln>
            </p:spPr>
            <p:txBody>
              <a:bodyPr/>
              <a:lstStyle/>
              <a:p>
                <a:endParaRPr lang="en-IT"/>
              </a:p>
            </p:txBody>
          </p:sp>
          <p:sp>
            <p:nvSpPr>
              <p:cNvPr id="5" name="Text 3"/>
              <p:cNvSpPr/>
              <p:nvPr/>
            </p:nvSpPr>
            <p:spPr>
              <a:xfrm>
                <a:off x="1323082" y="2561076"/>
                <a:ext cx="2497363" cy="202623"/>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4A6B4F"/>
                    </a:solidFill>
                    <a:latin typeface="JetBrains Mono" pitchFamily="34" charset="0"/>
                    <a:ea typeface="JetBrains Mono" pitchFamily="34" charset="-122"/>
                    <a:cs typeface="JetBrains Mono" pitchFamily="34" charset="-120"/>
                  </a:rPr>
                  <a:t>STEP 1</a:t>
                </a:r>
                <a:endParaRPr lang="en-US" sz="975" dirty="0"/>
              </a:p>
            </p:txBody>
          </p:sp>
          <p:sp>
            <p:nvSpPr>
              <p:cNvPr id="7" name="Text 4"/>
              <p:cNvSpPr/>
              <p:nvPr/>
            </p:nvSpPr>
            <p:spPr>
              <a:xfrm>
                <a:off x="1323082" y="3563636"/>
                <a:ext cx="2497363" cy="32290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kern="0" spc="-10" dirty="0">
                    <a:solidFill>
                      <a:srgbClr val="1B2A22"/>
                    </a:solidFill>
                    <a:latin typeface="Fraunces" pitchFamily="34" charset="0"/>
                    <a:ea typeface="Fraunces" pitchFamily="34" charset="-122"/>
                    <a:cs typeface="Fraunces" pitchFamily="34" charset="-120"/>
                  </a:rPr>
                  <a:t>Pre-processing</a:t>
                </a:r>
                <a:endParaRPr lang="en-US" sz="1950" dirty="0"/>
              </a:p>
            </p:txBody>
          </p:sp>
          <p:sp>
            <p:nvSpPr>
              <p:cNvPr id="8" name="Text 5"/>
              <p:cNvSpPr/>
              <p:nvPr/>
            </p:nvSpPr>
            <p:spPr>
              <a:xfrm>
                <a:off x="1323082" y="4000785"/>
                <a:ext cx="2497363" cy="723859"/>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5C6B61"/>
                    </a:solidFill>
                    <a:latin typeface="Inter" pitchFamily="34" charset="0"/>
                    <a:ea typeface="Inter" pitchFamily="34" charset="-122"/>
                    <a:cs typeface="Inter" pitchFamily="34" charset="-120"/>
                  </a:rPr>
                  <a:t>FastQC, Cutadapt, paired-end merging: same input for both classifiers.</a:t>
                </a:r>
                <a:endParaRPr lang="en-US" sz="1200" dirty="0"/>
              </a:p>
            </p:txBody>
          </p:sp>
          <p:sp>
            <p:nvSpPr>
              <p:cNvPr id="9" name="Shape 6"/>
              <p:cNvSpPr/>
              <p:nvPr/>
            </p:nvSpPr>
            <p:spPr>
              <a:xfrm>
                <a:off x="1323083" y="6915178"/>
                <a:ext cx="1309148" cy="283044"/>
              </a:xfrm>
              <a:prstGeom prst="rect">
                <a:avLst/>
              </a:prstGeom>
              <a:ln w="8659">
                <a:solidFill>
                  <a:srgbClr val="D7D2C5"/>
                </a:solidFill>
                <a:prstDash val="solid"/>
              </a:ln>
            </p:spPr>
            <p:txBody>
              <a:bodyPr/>
              <a:lstStyle/>
              <a:p>
                <a:endParaRPr lang="en-IT"/>
              </a:p>
            </p:txBody>
          </p:sp>
          <p:sp>
            <p:nvSpPr>
              <p:cNvPr id="10" name="Text 7"/>
              <p:cNvSpPr/>
              <p:nvPr/>
            </p:nvSpPr>
            <p:spPr>
              <a:xfrm>
                <a:off x="1375038" y="6956198"/>
                <a:ext cx="1205238" cy="189526"/>
              </a:xfrm>
              <a:prstGeom prst="rect">
                <a:avLst/>
              </a:prstGeom>
              <a:noFill/>
              <a:ln/>
            </p:spPr>
            <p:txBody>
              <a:bodyPr wrap="square" lIns="25400" tIns="25400" rIns="25400" bIns="25400" rtlCol="0" anchor="t">
                <a:normAutofit/>
              </a:bodyPr>
              <a:lstStyle/>
              <a:p>
                <a:pPr marL="0" indent="0" algn="l">
                  <a:buNone/>
                </a:pPr>
                <a:r>
                  <a:rPr lang="en-US" sz="900" kern="0" spc="90" dirty="0">
                    <a:solidFill>
                      <a:srgbClr val="4A6B4F"/>
                    </a:solidFill>
                    <a:latin typeface="JetBrains Mono" pitchFamily="34" charset="0"/>
                    <a:ea typeface="JetBrains Mono" pitchFamily="34" charset="-122"/>
                    <a:cs typeface="JetBrains Mono" pitchFamily="34" charset="-120"/>
                  </a:rPr>
                  <a:t>250 cleaned FASTQs</a:t>
                </a:r>
                <a:endParaRPr lang="en-US" sz="900" dirty="0"/>
              </a:p>
            </p:txBody>
          </p:sp>
        </p:grpSp>
        <p:pic>
          <p:nvPicPr>
            <p:cNvPr id="52" name="Graphic 51" descr="Research with solid fill">
              <a:extLst>
                <a:ext uri="{FF2B5EF4-FFF2-40B4-BE49-F238E27FC236}">
                  <a16:creationId xmlns:a16="http://schemas.microsoft.com/office/drawing/2014/main" id="{063AC8FE-3A0F-8066-1F44-7972975C33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3082" y="2874514"/>
              <a:ext cx="604800" cy="604800"/>
            </a:xfrm>
            <a:prstGeom prst="rect">
              <a:avLst/>
            </a:prstGeom>
          </p:spPr>
        </p:pic>
      </p:grpSp>
      <p:grpSp>
        <p:nvGrpSpPr>
          <p:cNvPr id="62" name="Group 61">
            <a:extLst>
              <a:ext uri="{FF2B5EF4-FFF2-40B4-BE49-F238E27FC236}">
                <a16:creationId xmlns:a16="http://schemas.microsoft.com/office/drawing/2014/main" id="{B29CDA55-300E-210E-147A-4289CF84382D}"/>
              </a:ext>
            </a:extLst>
          </p:cNvPr>
          <p:cNvGrpSpPr/>
          <p:nvPr/>
        </p:nvGrpSpPr>
        <p:grpSpPr>
          <a:xfrm>
            <a:off x="4286250" y="2209571"/>
            <a:ext cx="2971827" cy="5340156"/>
            <a:chOff x="4286250" y="2209571"/>
            <a:chExt cx="2971827" cy="5340156"/>
          </a:xfrm>
        </p:grpSpPr>
        <p:grpSp>
          <p:nvGrpSpPr>
            <p:cNvPr id="46" name="Group 45">
              <a:extLst>
                <a:ext uri="{FF2B5EF4-FFF2-40B4-BE49-F238E27FC236}">
                  <a16:creationId xmlns:a16="http://schemas.microsoft.com/office/drawing/2014/main" id="{1D5FB41C-B41A-9886-0C44-EE85B1D3BA2F}"/>
                </a:ext>
              </a:extLst>
            </p:cNvPr>
            <p:cNvGrpSpPr/>
            <p:nvPr/>
          </p:nvGrpSpPr>
          <p:grpSpPr>
            <a:xfrm>
              <a:off x="4286250" y="2209571"/>
              <a:ext cx="2971827" cy="5340156"/>
              <a:chOff x="4286250" y="2209571"/>
              <a:chExt cx="2971827" cy="5340156"/>
            </a:xfrm>
          </p:grpSpPr>
          <p:sp>
            <p:nvSpPr>
              <p:cNvPr id="11" name="Shape 8"/>
              <p:cNvSpPr/>
              <p:nvPr/>
            </p:nvSpPr>
            <p:spPr>
              <a:xfrm>
                <a:off x="4286250" y="2209571"/>
                <a:ext cx="2971827" cy="5340156"/>
              </a:xfrm>
              <a:prstGeom prst="rect">
                <a:avLst/>
              </a:prstGeom>
              <a:solidFill>
                <a:srgbClr val="FFFFFF"/>
              </a:solidFill>
              <a:ln w="8659">
                <a:solidFill>
                  <a:srgbClr val="D7D2C5"/>
                </a:solidFill>
                <a:prstDash val="solid"/>
              </a:ln>
            </p:spPr>
            <p:txBody>
              <a:bodyPr/>
              <a:lstStyle/>
              <a:p>
                <a:endParaRPr lang="en-IT"/>
              </a:p>
            </p:txBody>
          </p:sp>
          <p:sp>
            <p:nvSpPr>
              <p:cNvPr id="12" name="Text 9"/>
              <p:cNvSpPr/>
              <p:nvPr/>
            </p:nvSpPr>
            <p:spPr>
              <a:xfrm>
                <a:off x="4561582" y="2561076"/>
                <a:ext cx="2497363" cy="202623"/>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4A6B4F"/>
                    </a:solidFill>
                    <a:latin typeface="JetBrains Mono" pitchFamily="34" charset="0"/>
                    <a:ea typeface="JetBrains Mono" pitchFamily="34" charset="-122"/>
                    <a:cs typeface="JetBrains Mono" pitchFamily="34" charset="-120"/>
                  </a:rPr>
                  <a:t>STEP 2A</a:t>
                </a:r>
                <a:endParaRPr lang="en-US" sz="975" dirty="0"/>
              </a:p>
            </p:txBody>
          </p:sp>
          <p:sp>
            <p:nvSpPr>
              <p:cNvPr id="14" name="Text 10"/>
              <p:cNvSpPr/>
              <p:nvPr/>
            </p:nvSpPr>
            <p:spPr>
              <a:xfrm>
                <a:off x="4561582" y="3563636"/>
                <a:ext cx="2497363" cy="32290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kern="0" spc="-10" dirty="0">
                    <a:solidFill>
                      <a:srgbClr val="1B2A22"/>
                    </a:solidFill>
                    <a:latin typeface="Fraunces" pitchFamily="34" charset="0"/>
                    <a:ea typeface="Fraunces" pitchFamily="34" charset="-122"/>
                    <a:cs typeface="Fraunces" pitchFamily="34" charset="-120"/>
                  </a:rPr>
                  <a:t>Kraken2 · GTDB</a:t>
                </a:r>
                <a:endParaRPr lang="en-US" sz="1950" dirty="0"/>
              </a:p>
            </p:txBody>
          </p:sp>
          <p:sp>
            <p:nvSpPr>
              <p:cNvPr id="15" name="Text 11"/>
              <p:cNvSpPr/>
              <p:nvPr/>
            </p:nvSpPr>
            <p:spPr>
              <a:xfrm>
                <a:off x="4561582" y="4000785"/>
                <a:ext cx="2497363" cy="495273"/>
              </a:xfrm>
              <a:prstGeom prst="rect">
                <a:avLst/>
              </a:prstGeom>
              <a:noFill/>
              <a:ln/>
            </p:spPr>
            <p:txBody>
              <a:bodyPr wrap="square" lIns="25400" tIns="25400" rIns="25400" bIns="25400" rtlCol="0" anchor="t">
                <a:noAutofit/>
              </a:bodyPr>
              <a:lstStyle/>
              <a:p>
                <a:pPr marL="0" indent="0" algn="l">
                  <a:lnSpc>
                    <a:spcPct val="150000"/>
                  </a:lnSpc>
                  <a:buNone/>
                </a:pPr>
                <a:r>
                  <a:rPr lang="en-US" sz="1200" dirty="0">
                    <a:solidFill>
                      <a:srgbClr val="5C6B61"/>
                    </a:solidFill>
                    <a:latin typeface="Inter" pitchFamily="34" charset="0"/>
                    <a:ea typeface="Inter" pitchFamily="34" charset="-122"/>
                    <a:cs typeface="Inter" pitchFamily="34" charset="-120"/>
                  </a:rPr>
                  <a:t>SLURM job array on Dardel. </a:t>
                </a:r>
              </a:p>
              <a:p>
                <a:pPr marL="0" indent="0" algn="l">
                  <a:lnSpc>
                    <a:spcPct val="150000"/>
                  </a:lnSpc>
                  <a:buNone/>
                </a:pPr>
                <a:r>
                  <a:rPr lang="en-US" sz="1200" dirty="0">
                    <a:solidFill>
                      <a:srgbClr val="5C6B61"/>
                    </a:solidFill>
                    <a:latin typeface="Inter" pitchFamily="34" charset="0"/>
                    <a:ea typeface="Inter" pitchFamily="34" charset="-122"/>
                    <a:cs typeface="Inter" pitchFamily="34" charset="-120"/>
                  </a:rPr>
                  <a:t>Bacteria + archaea.</a:t>
                </a:r>
                <a:endParaRPr lang="en-US" sz="1200" dirty="0"/>
              </a:p>
            </p:txBody>
          </p:sp>
          <p:sp>
            <p:nvSpPr>
              <p:cNvPr id="16" name="Shape 12"/>
              <p:cNvSpPr/>
              <p:nvPr/>
            </p:nvSpPr>
            <p:spPr>
              <a:xfrm>
                <a:off x="4561582" y="6915178"/>
                <a:ext cx="855205" cy="283044"/>
              </a:xfrm>
              <a:prstGeom prst="rect">
                <a:avLst/>
              </a:prstGeom>
              <a:ln w="8659">
                <a:solidFill>
                  <a:srgbClr val="D7D2C5"/>
                </a:solidFill>
                <a:prstDash val="solid"/>
              </a:ln>
            </p:spPr>
            <p:txBody>
              <a:bodyPr/>
              <a:lstStyle/>
              <a:p>
                <a:endParaRPr lang="en-IT"/>
              </a:p>
            </p:txBody>
          </p:sp>
          <p:sp>
            <p:nvSpPr>
              <p:cNvPr id="17" name="Text 13"/>
              <p:cNvSpPr/>
              <p:nvPr/>
            </p:nvSpPr>
            <p:spPr>
              <a:xfrm>
                <a:off x="4623118" y="6956198"/>
                <a:ext cx="732132" cy="189526"/>
              </a:xfrm>
              <a:prstGeom prst="rect">
                <a:avLst/>
              </a:prstGeom>
              <a:noFill/>
              <a:ln/>
            </p:spPr>
            <p:txBody>
              <a:bodyPr wrap="square" lIns="25400" tIns="25400" rIns="25400" bIns="25400" rtlCol="0" anchor="t">
                <a:normAutofit/>
              </a:bodyPr>
              <a:lstStyle/>
              <a:p>
                <a:pPr marL="0" indent="0" algn="l">
                  <a:buNone/>
                </a:pPr>
                <a:r>
                  <a:rPr lang="en-US" sz="900" kern="0" spc="90" dirty="0">
                    <a:solidFill>
                      <a:srgbClr val="4A6B4F"/>
                    </a:solidFill>
                    <a:latin typeface="JetBrains Mono" pitchFamily="34" charset="0"/>
                    <a:ea typeface="JetBrains Mono" pitchFamily="34" charset="-122"/>
                    <a:cs typeface="JetBrains Mono" pitchFamily="34" charset="-120"/>
                  </a:rPr>
                  <a:t>250 reports</a:t>
                </a:r>
                <a:endParaRPr lang="en-US" sz="900" dirty="0"/>
              </a:p>
            </p:txBody>
          </p:sp>
        </p:grpSp>
        <p:pic>
          <p:nvPicPr>
            <p:cNvPr id="54" name="Graphic 53" descr="Gears with solid fill">
              <a:extLst>
                <a:ext uri="{FF2B5EF4-FFF2-40B4-BE49-F238E27FC236}">
                  <a16:creationId xmlns:a16="http://schemas.microsoft.com/office/drawing/2014/main" id="{87170C80-F647-98A1-A68B-825F58A1F9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1582" y="2763699"/>
              <a:ext cx="604800" cy="604800"/>
            </a:xfrm>
            <a:prstGeom prst="rect">
              <a:avLst/>
            </a:prstGeom>
          </p:spPr>
        </p:pic>
      </p:grpSp>
      <p:grpSp>
        <p:nvGrpSpPr>
          <p:cNvPr id="63" name="Group 62">
            <a:extLst>
              <a:ext uri="{FF2B5EF4-FFF2-40B4-BE49-F238E27FC236}">
                <a16:creationId xmlns:a16="http://schemas.microsoft.com/office/drawing/2014/main" id="{331B1B57-A3EA-3CFA-F63D-13CAA6BDE5FC}"/>
              </a:ext>
            </a:extLst>
          </p:cNvPr>
          <p:cNvGrpSpPr/>
          <p:nvPr/>
        </p:nvGrpSpPr>
        <p:grpSpPr>
          <a:xfrm>
            <a:off x="7524750" y="2209571"/>
            <a:ext cx="2971827" cy="5340156"/>
            <a:chOff x="7524750" y="2209571"/>
            <a:chExt cx="2971827" cy="5340156"/>
          </a:xfrm>
        </p:grpSpPr>
        <p:grpSp>
          <p:nvGrpSpPr>
            <p:cNvPr id="47" name="Group 46">
              <a:extLst>
                <a:ext uri="{FF2B5EF4-FFF2-40B4-BE49-F238E27FC236}">
                  <a16:creationId xmlns:a16="http://schemas.microsoft.com/office/drawing/2014/main" id="{2D45F277-5E84-2EB4-D221-C88D1C584386}"/>
                </a:ext>
              </a:extLst>
            </p:cNvPr>
            <p:cNvGrpSpPr/>
            <p:nvPr/>
          </p:nvGrpSpPr>
          <p:grpSpPr>
            <a:xfrm>
              <a:off x="7524750" y="2209571"/>
              <a:ext cx="2971827" cy="5340156"/>
              <a:chOff x="7524750" y="2209571"/>
              <a:chExt cx="2971827" cy="5340156"/>
            </a:xfrm>
          </p:grpSpPr>
          <p:sp>
            <p:nvSpPr>
              <p:cNvPr id="18" name="Shape 14"/>
              <p:cNvSpPr/>
              <p:nvPr/>
            </p:nvSpPr>
            <p:spPr>
              <a:xfrm>
                <a:off x="7524750" y="2209571"/>
                <a:ext cx="2971827" cy="5340156"/>
              </a:xfrm>
              <a:prstGeom prst="rect">
                <a:avLst/>
              </a:prstGeom>
              <a:solidFill>
                <a:srgbClr val="FFFFFF"/>
              </a:solidFill>
              <a:ln w="8659">
                <a:solidFill>
                  <a:srgbClr val="D7D2C5"/>
                </a:solidFill>
                <a:prstDash val="solid"/>
              </a:ln>
            </p:spPr>
            <p:txBody>
              <a:bodyPr/>
              <a:lstStyle/>
              <a:p>
                <a:endParaRPr lang="en-IT"/>
              </a:p>
            </p:txBody>
          </p:sp>
          <p:sp>
            <p:nvSpPr>
              <p:cNvPr id="19" name="Text 15"/>
              <p:cNvSpPr/>
              <p:nvPr/>
            </p:nvSpPr>
            <p:spPr>
              <a:xfrm>
                <a:off x="7800082" y="2561076"/>
                <a:ext cx="2497363" cy="202623"/>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4A6B4F"/>
                    </a:solidFill>
                    <a:latin typeface="JetBrains Mono" pitchFamily="34" charset="0"/>
                    <a:ea typeface="JetBrains Mono" pitchFamily="34" charset="-122"/>
                    <a:cs typeface="JetBrains Mono" pitchFamily="34" charset="-120"/>
                  </a:rPr>
                  <a:t>STEP 2B</a:t>
                </a:r>
                <a:endParaRPr lang="en-US" sz="975" dirty="0"/>
              </a:p>
            </p:txBody>
          </p:sp>
          <p:sp>
            <p:nvSpPr>
              <p:cNvPr id="21" name="Text 16"/>
              <p:cNvSpPr/>
              <p:nvPr/>
            </p:nvSpPr>
            <p:spPr>
              <a:xfrm>
                <a:off x="7800082" y="3563636"/>
                <a:ext cx="2497363" cy="607706"/>
              </a:xfrm>
              <a:prstGeom prst="rect">
                <a:avLst/>
              </a:prstGeom>
              <a:noFill/>
              <a:ln/>
            </p:spPr>
            <p:txBody>
              <a:bodyPr wrap="square" lIns="25400" tIns="25400" rIns="25400" bIns="25400" rtlCol="0" anchor="t">
                <a:normAutofit fontScale="92500"/>
              </a:bodyPr>
              <a:lstStyle/>
              <a:p>
                <a:pPr marL="0" indent="0" algn="l">
                  <a:lnSpc>
                    <a:spcPct val="115000"/>
                  </a:lnSpc>
                  <a:buNone/>
                </a:pPr>
                <a:r>
                  <a:rPr lang="en-US" sz="1950" kern="0" spc="-10" dirty="0">
                    <a:solidFill>
                      <a:srgbClr val="1B2A22"/>
                    </a:solidFill>
                    <a:latin typeface="Fraunces" pitchFamily="34" charset="0"/>
                    <a:ea typeface="Fraunces" pitchFamily="34" charset="-122"/>
                    <a:cs typeface="Fraunces" pitchFamily="34" charset="-120"/>
                  </a:rPr>
                  <a:t>KrakenUniq · MicrobialNT</a:t>
                </a:r>
                <a:endParaRPr lang="en-US" sz="1950" dirty="0"/>
              </a:p>
            </p:txBody>
          </p:sp>
          <p:sp>
            <p:nvSpPr>
              <p:cNvPr id="22" name="Text 17"/>
              <p:cNvSpPr/>
              <p:nvPr/>
            </p:nvSpPr>
            <p:spPr>
              <a:xfrm>
                <a:off x="7800081" y="4000784"/>
                <a:ext cx="2497363" cy="723859"/>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5C6B61"/>
                    </a:solidFill>
                    <a:latin typeface="Inter" pitchFamily="34" charset="0"/>
                    <a:ea typeface="Inter" pitchFamily="34" charset="-122"/>
                    <a:cs typeface="Inter" pitchFamily="34" charset="-120"/>
                  </a:rPr>
                  <a:t>SLURM job array on Dardel. Eukaryotes, fungi, viruses.</a:t>
                </a:r>
                <a:endParaRPr lang="en-US" sz="1200" dirty="0"/>
              </a:p>
            </p:txBody>
          </p:sp>
          <p:sp>
            <p:nvSpPr>
              <p:cNvPr id="23" name="Shape 18"/>
              <p:cNvSpPr/>
              <p:nvPr/>
            </p:nvSpPr>
            <p:spPr>
              <a:xfrm>
                <a:off x="7800082" y="6915178"/>
                <a:ext cx="820135" cy="283044"/>
              </a:xfrm>
              <a:prstGeom prst="rect">
                <a:avLst/>
              </a:prstGeom>
              <a:ln w="8659">
                <a:solidFill>
                  <a:srgbClr val="D7D2C5"/>
                </a:solidFill>
                <a:prstDash val="solid"/>
              </a:ln>
            </p:spPr>
            <p:txBody>
              <a:bodyPr/>
              <a:lstStyle/>
              <a:p>
                <a:endParaRPr lang="en-IT"/>
              </a:p>
            </p:txBody>
          </p:sp>
          <p:sp>
            <p:nvSpPr>
              <p:cNvPr id="24" name="Text 19"/>
              <p:cNvSpPr/>
              <p:nvPr/>
            </p:nvSpPr>
            <p:spPr>
              <a:xfrm>
                <a:off x="7845377" y="6956198"/>
                <a:ext cx="729543" cy="189526"/>
              </a:xfrm>
              <a:prstGeom prst="rect">
                <a:avLst/>
              </a:prstGeom>
              <a:noFill/>
              <a:ln/>
            </p:spPr>
            <p:txBody>
              <a:bodyPr wrap="square" lIns="25400" tIns="25400" rIns="25400" bIns="25400" rtlCol="0" anchor="t">
                <a:normAutofit/>
              </a:bodyPr>
              <a:lstStyle/>
              <a:p>
                <a:pPr marL="0" indent="0" algn="l">
                  <a:buNone/>
                </a:pPr>
                <a:r>
                  <a:rPr lang="en-US" sz="900" kern="0" spc="90" dirty="0">
                    <a:solidFill>
                      <a:srgbClr val="4A6B4F"/>
                    </a:solidFill>
                    <a:latin typeface="JetBrains Mono" pitchFamily="34" charset="0"/>
                    <a:ea typeface="JetBrains Mono" pitchFamily="34" charset="-122"/>
                    <a:cs typeface="JetBrains Mono" pitchFamily="34" charset="-120"/>
                  </a:rPr>
                  <a:t>250 reports</a:t>
                </a:r>
                <a:endParaRPr lang="en-US" sz="900" dirty="0"/>
              </a:p>
            </p:txBody>
          </p:sp>
        </p:grpSp>
        <p:pic>
          <p:nvPicPr>
            <p:cNvPr id="56" name="Graphic 55" descr="Saw blade outline">
              <a:extLst>
                <a:ext uri="{FF2B5EF4-FFF2-40B4-BE49-F238E27FC236}">
                  <a16:creationId xmlns:a16="http://schemas.microsoft.com/office/drawing/2014/main" id="{E442A898-0C53-6751-491F-C38BF26506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00081" y="2763707"/>
              <a:ext cx="604800" cy="604800"/>
            </a:xfrm>
            <a:prstGeom prst="rect">
              <a:avLst/>
            </a:prstGeom>
          </p:spPr>
        </p:pic>
      </p:grpSp>
      <p:grpSp>
        <p:nvGrpSpPr>
          <p:cNvPr id="64" name="Group 63">
            <a:extLst>
              <a:ext uri="{FF2B5EF4-FFF2-40B4-BE49-F238E27FC236}">
                <a16:creationId xmlns:a16="http://schemas.microsoft.com/office/drawing/2014/main" id="{3B3AFC2C-3522-9BCC-31BF-9C502DADE477}"/>
              </a:ext>
            </a:extLst>
          </p:cNvPr>
          <p:cNvGrpSpPr/>
          <p:nvPr/>
        </p:nvGrpSpPr>
        <p:grpSpPr>
          <a:xfrm>
            <a:off x="10763250" y="2209571"/>
            <a:ext cx="2971827" cy="5340156"/>
            <a:chOff x="10763250" y="2209571"/>
            <a:chExt cx="2971827" cy="5340156"/>
          </a:xfrm>
        </p:grpSpPr>
        <p:grpSp>
          <p:nvGrpSpPr>
            <p:cNvPr id="48" name="Group 47">
              <a:extLst>
                <a:ext uri="{FF2B5EF4-FFF2-40B4-BE49-F238E27FC236}">
                  <a16:creationId xmlns:a16="http://schemas.microsoft.com/office/drawing/2014/main" id="{361A081F-60B1-7925-B3CD-81540439A1A0}"/>
                </a:ext>
              </a:extLst>
            </p:cNvPr>
            <p:cNvGrpSpPr/>
            <p:nvPr/>
          </p:nvGrpSpPr>
          <p:grpSpPr>
            <a:xfrm>
              <a:off x="10763250" y="2209571"/>
              <a:ext cx="2971827" cy="5340156"/>
              <a:chOff x="10763250" y="2209571"/>
              <a:chExt cx="2971827" cy="5340156"/>
            </a:xfrm>
          </p:grpSpPr>
          <p:sp>
            <p:nvSpPr>
              <p:cNvPr id="25" name="Shape 20"/>
              <p:cNvSpPr/>
              <p:nvPr/>
            </p:nvSpPr>
            <p:spPr>
              <a:xfrm>
                <a:off x="10763250" y="2209571"/>
                <a:ext cx="2971827" cy="5340156"/>
              </a:xfrm>
              <a:prstGeom prst="rect">
                <a:avLst/>
              </a:prstGeom>
              <a:solidFill>
                <a:srgbClr val="2F4632"/>
              </a:solidFill>
              <a:ln w="8659">
                <a:solidFill>
                  <a:srgbClr val="2F4632"/>
                </a:solidFill>
                <a:prstDash val="solid"/>
              </a:ln>
            </p:spPr>
            <p:txBody>
              <a:bodyPr/>
              <a:lstStyle/>
              <a:p>
                <a:endParaRPr lang="en-IT"/>
              </a:p>
            </p:txBody>
          </p:sp>
          <p:sp>
            <p:nvSpPr>
              <p:cNvPr id="26" name="Text 21"/>
              <p:cNvSpPr/>
              <p:nvPr/>
            </p:nvSpPr>
            <p:spPr>
              <a:xfrm>
                <a:off x="11038582" y="2561076"/>
                <a:ext cx="2497363" cy="202623"/>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8FA88F"/>
                    </a:solidFill>
                    <a:latin typeface="JetBrains Mono" pitchFamily="34" charset="0"/>
                    <a:ea typeface="JetBrains Mono" pitchFamily="34" charset="-122"/>
                    <a:cs typeface="JetBrains Mono" pitchFamily="34" charset="-120"/>
                  </a:rPr>
                  <a:t>STEP 3</a:t>
                </a:r>
                <a:endParaRPr lang="en-US" sz="975" dirty="0"/>
              </a:p>
            </p:txBody>
          </p:sp>
          <p:sp>
            <p:nvSpPr>
              <p:cNvPr id="28" name="Text 22"/>
              <p:cNvSpPr/>
              <p:nvPr/>
            </p:nvSpPr>
            <p:spPr>
              <a:xfrm>
                <a:off x="11038582" y="3563636"/>
                <a:ext cx="2497363" cy="32290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kern="0" spc="-10" dirty="0">
                    <a:solidFill>
                      <a:srgbClr val="F5F2EA"/>
                    </a:solidFill>
                    <a:latin typeface="Fraunces" pitchFamily="34" charset="0"/>
                    <a:ea typeface="Fraunces" pitchFamily="34" charset="-122"/>
                    <a:cs typeface="Fraunces" pitchFamily="34" charset="-120"/>
                  </a:rPr>
                  <a:t>Family matrices</a:t>
                </a:r>
                <a:endParaRPr lang="en-US" sz="1950" dirty="0"/>
              </a:p>
            </p:txBody>
          </p:sp>
          <p:sp>
            <p:nvSpPr>
              <p:cNvPr id="29" name="Text 23"/>
              <p:cNvSpPr/>
              <p:nvPr/>
            </p:nvSpPr>
            <p:spPr>
              <a:xfrm>
                <a:off x="11038582" y="4000785"/>
                <a:ext cx="2497363" cy="495273"/>
              </a:xfrm>
              <a:prstGeom prst="rect">
                <a:avLst/>
              </a:prstGeom>
              <a:noFill/>
              <a:ln/>
            </p:spPr>
            <p:txBody>
              <a:bodyPr wrap="square" lIns="25400" tIns="25400" rIns="25400" bIns="25400" rtlCol="0" anchor="t">
                <a:noAutofit/>
              </a:bodyPr>
              <a:lstStyle/>
              <a:p>
                <a:pPr marL="0" indent="0" algn="l">
                  <a:lnSpc>
                    <a:spcPct val="150000"/>
                  </a:lnSpc>
                  <a:buNone/>
                </a:pPr>
                <a:r>
                  <a:rPr lang="en-US" sz="1200" dirty="0">
                    <a:solidFill>
                      <a:srgbClr val="C9D2CC"/>
                    </a:solidFill>
                    <a:latin typeface="Inter" pitchFamily="34" charset="0"/>
                    <a:ea typeface="Inter" pitchFamily="34" charset="-122"/>
                    <a:cs typeface="Inter" pitchFamily="34" charset="-120"/>
                  </a:rPr>
                  <a:t>Family rows extracted, </a:t>
                </a:r>
                <a:r>
                  <a:rPr lang="en-US" sz="1200" i="1" dirty="0">
                    <a:solidFill>
                      <a:srgbClr val="C9D2CC"/>
                    </a:solidFill>
                    <a:latin typeface="Inter" pitchFamily="34" charset="0"/>
                    <a:ea typeface="Inter" pitchFamily="34" charset="-122"/>
                    <a:cs typeface="Inter" pitchFamily="34" charset="-120"/>
                  </a:rPr>
                  <a:t>samples × families </a:t>
                </a:r>
                <a:r>
                  <a:rPr lang="en-US" sz="1200" dirty="0">
                    <a:solidFill>
                      <a:srgbClr val="C9D2CC"/>
                    </a:solidFill>
                    <a:latin typeface="Inter" pitchFamily="34" charset="0"/>
                    <a:ea typeface="Inter" pitchFamily="34" charset="-122"/>
                    <a:cs typeface="Inter" pitchFamily="34" charset="-120"/>
                  </a:rPr>
                  <a:t>matrices built on Dardel.</a:t>
                </a:r>
                <a:endParaRPr lang="en-US" sz="1200" dirty="0"/>
              </a:p>
            </p:txBody>
          </p:sp>
          <p:sp>
            <p:nvSpPr>
              <p:cNvPr id="30" name="Shape 24"/>
              <p:cNvSpPr/>
              <p:nvPr/>
            </p:nvSpPr>
            <p:spPr>
              <a:xfrm>
                <a:off x="11038582" y="6915178"/>
                <a:ext cx="1096591" cy="283044"/>
              </a:xfrm>
              <a:prstGeom prst="rect">
                <a:avLst/>
              </a:prstGeom>
              <a:ln w="8659">
                <a:solidFill>
                  <a:schemeClr val="bg1"/>
                </a:solidFill>
                <a:prstDash val="solid"/>
              </a:ln>
            </p:spPr>
            <p:txBody>
              <a:bodyPr/>
              <a:lstStyle/>
              <a:p>
                <a:endParaRPr lang="en-IT"/>
              </a:p>
            </p:txBody>
          </p:sp>
          <p:sp>
            <p:nvSpPr>
              <p:cNvPr id="31" name="Text 25"/>
              <p:cNvSpPr/>
              <p:nvPr/>
            </p:nvSpPr>
            <p:spPr>
              <a:xfrm>
                <a:off x="11085165" y="6956198"/>
                <a:ext cx="973525" cy="189526"/>
              </a:xfrm>
              <a:prstGeom prst="rect">
                <a:avLst/>
              </a:prstGeom>
              <a:noFill/>
              <a:ln/>
            </p:spPr>
            <p:txBody>
              <a:bodyPr wrap="square" lIns="25400" tIns="25400" rIns="25400" bIns="25400" rtlCol="0" anchor="t">
                <a:normAutofit/>
              </a:bodyPr>
              <a:lstStyle/>
              <a:p>
                <a:pPr marL="0" indent="0" algn="l">
                  <a:buNone/>
                </a:pPr>
                <a:r>
                  <a:rPr lang="en-US" sz="900" kern="0" spc="90" dirty="0">
                    <a:solidFill>
                      <a:srgbClr val="C49A3F"/>
                    </a:solidFill>
                    <a:latin typeface="JetBrains Mono" pitchFamily="34" charset="0"/>
                    <a:ea typeface="JetBrains Mono" pitchFamily="34" charset="-122"/>
                    <a:cs typeface="JetBrains Mono" pitchFamily="34" charset="-120"/>
                  </a:rPr>
                  <a:t>2 matrices · TSV</a:t>
                </a:r>
                <a:endParaRPr lang="en-US" sz="900" dirty="0"/>
              </a:p>
            </p:txBody>
          </p:sp>
        </p:grpSp>
        <p:pic>
          <p:nvPicPr>
            <p:cNvPr id="58" name="Graphic 57" descr="Abacus with solid fill">
              <a:extLst>
                <a:ext uri="{FF2B5EF4-FFF2-40B4-BE49-F238E27FC236}">
                  <a16:creationId xmlns:a16="http://schemas.microsoft.com/office/drawing/2014/main" id="{A3CF18FF-3E3A-B308-05ED-CAC914766E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38582" y="2874147"/>
              <a:ext cx="604800" cy="604800"/>
            </a:xfrm>
            <a:prstGeom prst="rect">
              <a:avLst/>
            </a:prstGeom>
          </p:spPr>
        </p:pic>
      </p:grpSp>
      <p:grpSp>
        <p:nvGrpSpPr>
          <p:cNvPr id="65" name="Group 64">
            <a:extLst>
              <a:ext uri="{FF2B5EF4-FFF2-40B4-BE49-F238E27FC236}">
                <a16:creationId xmlns:a16="http://schemas.microsoft.com/office/drawing/2014/main" id="{617103C7-8188-A2E5-3BF4-238A39583516}"/>
              </a:ext>
            </a:extLst>
          </p:cNvPr>
          <p:cNvGrpSpPr/>
          <p:nvPr/>
        </p:nvGrpSpPr>
        <p:grpSpPr>
          <a:xfrm>
            <a:off x="14001750" y="2209571"/>
            <a:ext cx="3238500" cy="5340156"/>
            <a:chOff x="14001750" y="2209571"/>
            <a:chExt cx="3238500" cy="5340156"/>
          </a:xfrm>
        </p:grpSpPr>
        <p:grpSp>
          <p:nvGrpSpPr>
            <p:cNvPr id="49" name="Group 48">
              <a:extLst>
                <a:ext uri="{FF2B5EF4-FFF2-40B4-BE49-F238E27FC236}">
                  <a16:creationId xmlns:a16="http://schemas.microsoft.com/office/drawing/2014/main" id="{F2B3C1E1-2080-C7E1-E00E-26432436F77B}"/>
                </a:ext>
              </a:extLst>
            </p:cNvPr>
            <p:cNvGrpSpPr/>
            <p:nvPr/>
          </p:nvGrpSpPr>
          <p:grpSpPr>
            <a:xfrm>
              <a:off x="14001750" y="2209571"/>
              <a:ext cx="3238500" cy="5340156"/>
              <a:chOff x="14001750" y="2209571"/>
              <a:chExt cx="3238500" cy="5340156"/>
            </a:xfrm>
          </p:grpSpPr>
          <p:sp>
            <p:nvSpPr>
              <p:cNvPr id="32" name="Shape 26"/>
              <p:cNvSpPr/>
              <p:nvPr/>
            </p:nvSpPr>
            <p:spPr>
              <a:xfrm>
                <a:off x="14001750" y="2209571"/>
                <a:ext cx="3238500" cy="5340156"/>
              </a:xfrm>
              <a:prstGeom prst="rect">
                <a:avLst/>
              </a:prstGeom>
              <a:solidFill>
                <a:srgbClr val="2F4632"/>
              </a:solidFill>
              <a:ln w="8659">
                <a:solidFill>
                  <a:srgbClr val="2F4632"/>
                </a:solidFill>
                <a:prstDash val="solid"/>
              </a:ln>
            </p:spPr>
            <p:txBody>
              <a:bodyPr/>
              <a:lstStyle/>
              <a:p>
                <a:endParaRPr lang="en-IT"/>
              </a:p>
            </p:txBody>
          </p:sp>
          <p:sp>
            <p:nvSpPr>
              <p:cNvPr id="33" name="Text 27"/>
              <p:cNvSpPr/>
              <p:nvPr/>
            </p:nvSpPr>
            <p:spPr>
              <a:xfrm>
                <a:off x="14277082" y="2561076"/>
                <a:ext cx="2768471" cy="202623"/>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8FA88F"/>
                    </a:solidFill>
                    <a:latin typeface="JetBrains Mono" pitchFamily="34" charset="0"/>
                    <a:ea typeface="JetBrains Mono" pitchFamily="34" charset="-122"/>
                    <a:cs typeface="JetBrains Mono" pitchFamily="34" charset="-120"/>
                  </a:rPr>
                  <a:t>STEP 4</a:t>
                </a:r>
                <a:endParaRPr lang="en-US" sz="975" dirty="0"/>
              </a:p>
            </p:txBody>
          </p:sp>
          <p:sp>
            <p:nvSpPr>
              <p:cNvPr id="35" name="Text 28"/>
              <p:cNvSpPr/>
              <p:nvPr/>
            </p:nvSpPr>
            <p:spPr>
              <a:xfrm>
                <a:off x="14277082" y="3563636"/>
                <a:ext cx="2768471" cy="32290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950" kern="0" spc="-10" dirty="0">
                    <a:solidFill>
                      <a:srgbClr val="F5F2EA"/>
                    </a:solidFill>
                    <a:latin typeface="Fraunces" pitchFamily="34" charset="0"/>
                    <a:ea typeface="Fraunces" pitchFamily="34" charset="-122"/>
                    <a:cs typeface="Fraunces" pitchFamily="34" charset="-120"/>
                  </a:rPr>
                  <a:t>R analysis</a:t>
                </a:r>
                <a:endParaRPr lang="en-US" sz="1950" dirty="0"/>
              </a:p>
            </p:txBody>
          </p:sp>
          <p:sp>
            <p:nvSpPr>
              <p:cNvPr id="36" name="Text 29"/>
              <p:cNvSpPr/>
              <p:nvPr/>
            </p:nvSpPr>
            <p:spPr>
              <a:xfrm>
                <a:off x="14277082" y="4000784"/>
                <a:ext cx="2768471" cy="495273"/>
              </a:xfrm>
              <a:prstGeom prst="rect">
                <a:avLst/>
              </a:prstGeom>
              <a:noFill/>
              <a:ln/>
            </p:spPr>
            <p:txBody>
              <a:bodyPr wrap="square" lIns="25400" tIns="25400" rIns="25400" bIns="25400" rtlCol="0" anchor="t">
                <a:noAutofit/>
              </a:bodyPr>
              <a:lstStyle/>
              <a:p>
                <a:pPr marL="0" indent="0" algn="l">
                  <a:lnSpc>
                    <a:spcPct val="150000"/>
                  </a:lnSpc>
                  <a:buNone/>
                </a:pPr>
                <a:r>
                  <a:rPr lang="en-US" sz="1200" dirty="0">
                    <a:solidFill>
                      <a:srgbClr val="C9D2CC"/>
                    </a:solidFill>
                    <a:latin typeface="Inter" pitchFamily="34" charset="0"/>
                    <a:ea typeface="Inter" pitchFamily="34" charset="-122"/>
                    <a:cs typeface="Inter" pitchFamily="34" charset="-120"/>
                  </a:rPr>
                  <a:t>Cleaning · per-family Spearman · Bray-Curtis → PCoA → Procrustes.</a:t>
                </a:r>
                <a:endParaRPr lang="en-US" sz="1200" dirty="0"/>
              </a:p>
            </p:txBody>
          </p:sp>
          <p:sp>
            <p:nvSpPr>
              <p:cNvPr id="37" name="Shape 30"/>
              <p:cNvSpPr/>
              <p:nvPr/>
            </p:nvSpPr>
            <p:spPr>
              <a:xfrm>
                <a:off x="14277082" y="6915178"/>
                <a:ext cx="823433" cy="283044"/>
              </a:xfrm>
              <a:prstGeom prst="rect">
                <a:avLst/>
              </a:prstGeom>
              <a:ln w="8659">
                <a:solidFill>
                  <a:schemeClr val="bg1"/>
                </a:solidFill>
                <a:prstDash val="solid"/>
              </a:ln>
            </p:spPr>
            <p:txBody>
              <a:bodyPr/>
              <a:lstStyle/>
              <a:p>
                <a:endParaRPr lang="en-IT"/>
              </a:p>
            </p:txBody>
          </p:sp>
          <p:sp>
            <p:nvSpPr>
              <p:cNvPr id="38" name="Text 31"/>
              <p:cNvSpPr/>
              <p:nvPr/>
            </p:nvSpPr>
            <p:spPr>
              <a:xfrm>
                <a:off x="14309986" y="6956198"/>
                <a:ext cx="757624" cy="189526"/>
              </a:xfrm>
              <a:prstGeom prst="rect">
                <a:avLst/>
              </a:prstGeom>
              <a:noFill/>
              <a:ln/>
            </p:spPr>
            <p:txBody>
              <a:bodyPr wrap="square" lIns="25400" tIns="25400" rIns="25400" bIns="25400" rtlCol="0" anchor="t">
                <a:normAutofit/>
              </a:bodyPr>
              <a:lstStyle/>
              <a:p>
                <a:pPr marL="0" indent="0" algn="l">
                  <a:buNone/>
                </a:pPr>
                <a:r>
                  <a:rPr lang="en-US" sz="900" kern="0" spc="90" dirty="0">
                    <a:solidFill>
                      <a:srgbClr val="C49A3F"/>
                    </a:solidFill>
                    <a:latin typeface="JetBrains Mono" pitchFamily="34" charset="0"/>
                    <a:ea typeface="JetBrains Mono" pitchFamily="34" charset="-122"/>
                    <a:cs typeface="JetBrains Mono" pitchFamily="34" charset="-120"/>
                  </a:rPr>
                  <a:t>Today's talk</a:t>
                </a:r>
                <a:endParaRPr lang="en-US" sz="900" dirty="0"/>
              </a:p>
            </p:txBody>
          </p:sp>
        </p:grpSp>
        <p:pic>
          <p:nvPicPr>
            <p:cNvPr id="60" name="Graphic 59" descr="Presentation with org chart with solid fill">
              <a:extLst>
                <a:ext uri="{FF2B5EF4-FFF2-40B4-BE49-F238E27FC236}">
                  <a16:creationId xmlns:a16="http://schemas.microsoft.com/office/drawing/2014/main" id="{DC886B24-F6EC-921E-9CF6-6668B8BDB0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277082" y="2874147"/>
              <a:ext cx="604800" cy="604800"/>
            </a:xfrm>
            <a:prstGeom prst="rect">
              <a:avLst/>
            </a:prstGeom>
          </p:spPr>
        </p:pic>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up)">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up)">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up)">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up)">
                                      <p:cBhvr>
                                        <p:cTn id="27" dur="500"/>
                                        <p:tgtEl>
                                          <p:spTgt spid="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03 · WHAT WE BUILT · FIRST PASS</a:t>
            </a:r>
            <a:endParaRPr lang="en-US" sz="1600" dirty="0"/>
          </a:p>
        </p:txBody>
      </p:sp>
      <p:sp>
        <p:nvSpPr>
          <p:cNvPr id="3" name="Text 1"/>
          <p:cNvSpPr/>
          <p:nvPr/>
        </p:nvSpPr>
        <p:spPr>
          <a:xfrm>
            <a:off x="5121592" y="1346322"/>
            <a:ext cx="7673319"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Two matrices and an early sanity check</a:t>
            </a:r>
            <a:endParaRPr lang="en-US" sz="4200" dirty="0"/>
          </a:p>
        </p:txBody>
      </p:sp>
      <p:grpSp>
        <p:nvGrpSpPr>
          <p:cNvPr id="34" name="Group 33">
            <a:extLst>
              <a:ext uri="{FF2B5EF4-FFF2-40B4-BE49-F238E27FC236}">
                <a16:creationId xmlns:a16="http://schemas.microsoft.com/office/drawing/2014/main" id="{444C4A7E-CC73-D71A-9FC6-F3166AF94DA0}"/>
              </a:ext>
            </a:extLst>
          </p:cNvPr>
          <p:cNvGrpSpPr/>
          <p:nvPr/>
        </p:nvGrpSpPr>
        <p:grpSpPr>
          <a:xfrm>
            <a:off x="5121592" y="5974789"/>
            <a:ext cx="8044815" cy="2965889"/>
            <a:chOff x="1047750" y="2484083"/>
            <a:chExt cx="8044815" cy="2965889"/>
          </a:xfrm>
        </p:grpSpPr>
        <p:sp>
          <p:nvSpPr>
            <p:cNvPr id="4" name="Shape 2"/>
            <p:cNvSpPr/>
            <p:nvPr/>
          </p:nvSpPr>
          <p:spPr>
            <a:xfrm>
              <a:off x="1047750" y="2484083"/>
              <a:ext cx="7810500" cy="17318"/>
            </a:xfrm>
            <a:prstGeom prst="rect">
              <a:avLst/>
            </a:prstGeom>
            <a:solidFill>
              <a:srgbClr val="4A6B4F"/>
            </a:solidFill>
            <a:ln/>
          </p:spPr>
          <p:txBody>
            <a:bodyPr/>
            <a:lstStyle/>
            <a:p>
              <a:endParaRPr lang="en-IT"/>
            </a:p>
          </p:txBody>
        </p:sp>
        <p:sp>
          <p:nvSpPr>
            <p:cNvPr id="5" name="Text 3"/>
            <p:cNvSpPr/>
            <p:nvPr/>
          </p:nvSpPr>
          <p:spPr>
            <a:xfrm>
              <a:off x="1047750" y="2644142"/>
              <a:ext cx="8044815" cy="297859"/>
            </a:xfrm>
            <a:prstGeom prst="rect">
              <a:avLst/>
            </a:prstGeom>
            <a:noFill/>
            <a:ln/>
          </p:spPr>
          <p:txBody>
            <a:bodyPr wrap="square" lIns="25400" tIns="25400" rIns="25400" bIns="25400" rtlCol="0" anchor="t">
              <a:noAutofit/>
            </a:bodyPr>
            <a:lstStyle/>
            <a:p>
              <a:pPr marL="0" indent="0" algn="l">
                <a:buNone/>
              </a:pPr>
              <a:r>
                <a:rPr lang="en-US" sz="1600" kern="0" spc="176" dirty="0">
                  <a:solidFill>
                    <a:srgbClr val="4A6B4F"/>
                  </a:solidFill>
                  <a:latin typeface="JetBrains Mono" pitchFamily="34" charset="0"/>
                  <a:ea typeface="JetBrains Mono" pitchFamily="34" charset="-122"/>
                  <a:cs typeface="JetBrains Mono" pitchFamily="34" charset="-120"/>
                </a:rPr>
                <a:t>OUTPUT OF THE PIPELINE</a:t>
              </a:r>
              <a:endParaRPr lang="en-US" sz="1600" dirty="0"/>
            </a:p>
          </p:txBody>
        </p:sp>
        <p:sp>
          <p:nvSpPr>
            <p:cNvPr id="6" name="Text 4"/>
            <p:cNvSpPr/>
            <p:nvPr/>
          </p:nvSpPr>
          <p:spPr>
            <a:xfrm>
              <a:off x="1047750" y="3027847"/>
              <a:ext cx="8044815" cy="415244"/>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700" kern="0" spc="-27" dirty="0">
                  <a:solidFill>
                    <a:srgbClr val="1B2A22"/>
                  </a:solidFill>
                  <a:latin typeface="Fraunces" pitchFamily="34" charset="0"/>
                  <a:ea typeface="Fraunces" pitchFamily="34" charset="-122"/>
                  <a:cs typeface="Fraunces" pitchFamily="34" charset="-120"/>
                </a:rPr>
                <a:t>Two </a:t>
              </a:r>
              <a:r>
                <a:rPr lang="en-US" sz="2700" i="1" kern="0" spc="-27" dirty="0">
                  <a:solidFill>
                    <a:srgbClr val="1B2A22"/>
                  </a:solidFill>
                  <a:latin typeface="Fraunces" pitchFamily="34" charset="0"/>
                  <a:ea typeface="Fraunces" pitchFamily="34" charset="-122"/>
                  <a:cs typeface="Fraunces" pitchFamily="34" charset="-120"/>
                </a:rPr>
                <a:t>samples × families </a:t>
              </a:r>
              <a:r>
                <a:rPr lang="en-US" sz="2700" kern="0" spc="-27" dirty="0">
                  <a:solidFill>
                    <a:srgbClr val="1B2A22"/>
                  </a:solidFill>
                  <a:latin typeface="Fraunces" pitchFamily="34" charset="0"/>
                  <a:ea typeface="Fraunces" pitchFamily="34" charset="-122"/>
                  <a:cs typeface="Fraunces" pitchFamily="34" charset="-120"/>
                </a:rPr>
                <a:t>matrices</a:t>
              </a:r>
              <a:endParaRPr lang="en-US" sz="2700" dirty="0"/>
            </a:p>
          </p:txBody>
        </p:sp>
        <p:sp>
          <p:nvSpPr>
            <p:cNvPr id="7" name="Text 5"/>
            <p:cNvSpPr/>
            <p:nvPr/>
          </p:nvSpPr>
          <p:spPr>
            <a:xfrm>
              <a:off x="1047751" y="3557336"/>
              <a:ext cx="5645150" cy="30950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2F4438"/>
                  </a:solidFill>
                  <a:latin typeface="Inter" pitchFamily="34" charset="0"/>
                  <a:ea typeface="Inter" pitchFamily="34" charset="-122"/>
                  <a:cs typeface="Inter" pitchFamily="34" charset="-120"/>
                </a:rPr>
                <a:t>One row per sample, one column per family, percent abundance in each cell</a:t>
              </a:r>
              <a:endParaRPr lang="en-US" sz="1400" dirty="0"/>
            </a:p>
          </p:txBody>
        </p:sp>
        <p:sp>
          <p:nvSpPr>
            <p:cNvPr id="8" name="Shape 6"/>
            <p:cNvSpPr/>
            <p:nvPr/>
          </p:nvSpPr>
          <p:spPr>
            <a:xfrm>
              <a:off x="1047750" y="4057332"/>
              <a:ext cx="3429001" cy="1392640"/>
            </a:xfrm>
            <a:prstGeom prst="rect">
              <a:avLst/>
            </a:prstGeom>
            <a:solidFill>
              <a:srgbClr val="FFFFFF"/>
            </a:solidFill>
            <a:ln w="8659">
              <a:solidFill>
                <a:srgbClr val="D7D2C5"/>
              </a:solidFill>
              <a:prstDash val="solid"/>
            </a:ln>
          </p:spPr>
          <p:txBody>
            <a:bodyPr/>
            <a:lstStyle/>
            <a:p>
              <a:endParaRPr lang="en-IT" sz="2800"/>
            </a:p>
          </p:txBody>
        </p:sp>
        <p:sp>
          <p:nvSpPr>
            <p:cNvPr id="9" name="Text 7"/>
            <p:cNvSpPr/>
            <p:nvPr/>
          </p:nvSpPr>
          <p:spPr>
            <a:xfrm>
              <a:off x="1284996" y="4147713"/>
              <a:ext cx="1073348" cy="361344"/>
            </a:xfrm>
            <a:prstGeom prst="rect">
              <a:avLst/>
            </a:prstGeom>
            <a:noFill/>
            <a:ln/>
          </p:spPr>
          <p:txBody>
            <a:bodyPr wrap="square" lIns="25400" tIns="25400" rIns="25400" bIns="25400" rtlCol="0" anchor="t">
              <a:noAutofit/>
            </a:bodyPr>
            <a:lstStyle/>
            <a:p>
              <a:pPr marL="0" indent="0" algn="l">
                <a:buNone/>
              </a:pPr>
              <a:r>
                <a:rPr lang="en-US" sz="2400" dirty="0">
                  <a:solidFill>
                    <a:srgbClr val="1B2A22"/>
                  </a:solidFill>
                  <a:latin typeface="Fraunces" pitchFamily="34" charset="0"/>
                  <a:ea typeface="Fraunces" pitchFamily="34" charset="-122"/>
                  <a:cs typeface="Fraunces" pitchFamily="34" charset="-120"/>
                </a:rPr>
                <a:t>Kraken2</a:t>
              </a:r>
              <a:endParaRPr lang="en-US" sz="2400" dirty="0"/>
            </a:p>
          </p:txBody>
        </p:sp>
        <p:sp>
          <p:nvSpPr>
            <p:cNvPr id="10" name="Text 8"/>
            <p:cNvSpPr/>
            <p:nvPr/>
          </p:nvSpPr>
          <p:spPr>
            <a:xfrm>
              <a:off x="1284996" y="4599515"/>
              <a:ext cx="1642931" cy="220091"/>
            </a:xfrm>
            <a:prstGeom prst="rect">
              <a:avLst/>
            </a:prstGeom>
            <a:noFill/>
            <a:ln/>
          </p:spPr>
          <p:txBody>
            <a:bodyPr wrap="square" lIns="25400" tIns="25400" rIns="25400" bIns="25400" rtlCol="0" anchor="t">
              <a:noAutofit/>
            </a:bodyPr>
            <a:lstStyle/>
            <a:p>
              <a:pPr marL="0" indent="0" algn="l">
                <a:buNone/>
              </a:pPr>
              <a:r>
                <a:rPr lang="en-US" sz="1100" dirty="0">
                  <a:solidFill>
                    <a:srgbClr val="5C6B61"/>
                  </a:solidFill>
                  <a:latin typeface="JetBrains Mono" pitchFamily="34" charset="0"/>
                  <a:ea typeface="JetBrains Mono" pitchFamily="34" charset="-122"/>
                  <a:cs typeface="JetBrains Mono" pitchFamily="34" charset="-120"/>
                </a:rPr>
                <a:t>GTDB · bacteria + archaea</a:t>
              </a:r>
              <a:endParaRPr lang="en-US" sz="1100" dirty="0"/>
            </a:p>
          </p:txBody>
        </p:sp>
        <p:sp>
          <p:nvSpPr>
            <p:cNvPr id="11" name="Text 9"/>
            <p:cNvSpPr/>
            <p:nvPr/>
          </p:nvSpPr>
          <p:spPr>
            <a:xfrm>
              <a:off x="1284996" y="4910064"/>
              <a:ext cx="1181113" cy="343741"/>
            </a:xfrm>
            <a:prstGeom prst="rect">
              <a:avLst/>
            </a:prstGeom>
            <a:noFill/>
            <a:ln/>
          </p:spPr>
          <p:txBody>
            <a:bodyPr wrap="square" lIns="25400" tIns="25400" rIns="25400" bIns="25400" rtlCol="0" anchor="t">
              <a:normAutofit lnSpcReduction="10000"/>
            </a:bodyPr>
            <a:lstStyle/>
            <a:p>
              <a:pPr marL="0" indent="0" algn="l">
                <a:buNone/>
              </a:pPr>
              <a:r>
                <a:rPr lang="en-US" sz="2000" kern="0" spc="-48" dirty="0">
                  <a:solidFill>
                    <a:srgbClr val="2F4632"/>
                  </a:solidFill>
                  <a:latin typeface="Fraunces" pitchFamily="34" charset="0"/>
                  <a:ea typeface="Fraunces" pitchFamily="34" charset="-122"/>
                  <a:cs typeface="Fraunces" pitchFamily="34" charset="-120"/>
                </a:rPr>
                <a:t>249 </a:t>
              </a:r>
              <a:r>
                <a:rPr lang="en-US" sz="2000" i="1" kern="0" spc="-48" dirty="0">
                  <a:solidFill>
                    <a:srgbClr val="5C6B61"/>
                  </a:solidFill>
                  <a:latin typeface="Fraunces" pitchFamily="34" charset="0"/>
                  <a:ea typeface="Fraunces" pitchFamily="34" charset="-122"/>
                  <a:cs typeface="Fraunces" pitchFamily="34" charset="-120"/>
                </a:rPr>
                <a:t>× </a:t>
              </a:r>
              <a:r>
                <a:rPr lang="en-US" sz="2000" kern="0" spc="-48" dirty="0">
                  <a:solidFill>
                    <a:srgbClr val="2F4632"/>
                  </a:solidFill>
                  <a:latin typeface="Fraunces" pitchFamily="34" charset="0"/>
                  <a:ea typeface="Fraunces" pitchFamily="34" charset="-122"/>
                  <a:cs typeface="Fraunces" pitchFamily="34" charset="-120"/>
                </a:rPr>
                <a:t>5460</a:t>
              </a:r>
              <a:endParaRPr lang="en-US" sz="2000" dirty="0"/>
            </a:p>
          </p:txBody>
        </p:sp>
        <p:sp>
          <p:nvSpPr>
            <p:cNvPr id="12" name="Shape 10"/>
            <p:cNvSpPr/>
            <p:nvPr/>
          </p:nvSpPr>
          <p:spPr>
            <a:xfrm>
              <a:off x="5238750" y="4057332"/>
              <a:ext cx="3429000" cy="1372331"/>
            </a:xfrm>
            <a:prstGeom prst="rect">
              <a:avLst/>
            </a:prstGeom>
            <a:solidFill>
              <a:srgbClr val="FFFFFF"/>
            </a:solidFill>
            <a:ln w="8659">
              <a:solidFill>
                <a:srgbClr val="D7D2C5"/>
              </a:solidFill>
              <a:prstDash val="solid"/>
            </a:ln>
          </p:spPr>
          <p:txBody>
            <a:bodyPr/>
            <a:lstStyle/>
            <a:p>
              <a:endParaRPr lang="en-IT"/>
            </a:p>
          </p:txBody>
        </p:sp>
        <p:sp>
          <p:nvSpPr>
            <p:cNvPr id="13" name="Text 11"/>
            <p:cNvSpPr/>
            <p:nvPr/>
          </p:nvSpPr>
          <p:spPr>
            <a:xfrm>
              <a:off x="5475996" y="4186772"/>
              <a:ext cx="1567887" cy="361344"/>
            </a:xfrm>
            <a:prstGeom prst="rect">
              <a:avLst/>
            </a:prstGeom>
            <a:noFill/>
            <a:ln/>
          </p:spPr>
          <p:txBody>
            <a:bodyPr wrap="square" lIns="25400" tIns="25400" rIns="25400" bIns="25400" rtlCol="0" anchor="t">
              <a:noAutofit/>
            </a:bodyPr>
            <a:lstStyle/>
            <a:p>
              <a:pPr marL="0" indent="0" algn="l">
                <a:buNone/>
              </a:pPr>
              <a:r>
                <a:rPr lang="en-US" sz="2400" dirty="0">
                  <a:solidFill>
                    <a:srgbClr val="1B2A22"/>
                  </a:solidFill>
                  <a:latin typeface="Fraunces" pitchFamily="34" charset="0"/>
                  <a:ea typeface="Fraunces" pitchFamily="34" charset="-122"/>
                  <a:cs typeface="Fraunces" pitchFamily="34" charset="-120"/>
                </a:rPr>
                <a:t>KrakenUniq</a:t>
              </a:r>
              <a:endParaRPr lang="en-US" sz="2400" dirty="0"/>
            </a:p>
          </p:txBody>
        </p:sp>
        <p:sp>
          <p:nvSpPr>
            <p:cNvPr id="14" name="Text 12"/>
            <p:cNvSpPr/>
            <p:nvPr/>
          </p:nvSpPr>
          <p:spPr>
            <a:xfrm>
              <a:off x="5475996" y="4640830"/>
              <a:ext cx="1798796" cy="208558"/>
            </a:xfrm>
            <a:prstGeom prst="rect">
              <a:avLst/>
            </a:prstGeom>
            <a:noFill/>
            <a:ln/>
          </p:spPr>
          <p:txBody>
            <a:bodyPr wrap="square" lIns="25400" tIns="25400" rIns="25400" bIns="25400" rtlCol="0" anchor="t">
              <a:noAutofit/>
            </a:bodyPr>
            <a:lstStyle/>
            <a:p>
              <a:pPr marL="0" indent="0" algn="l">
                <a:buNone/>
              </a:pPr>
              <a:r>
                <a:rPr lang="en-US" sz="1100" dirty="0">
                  <a:solidFill>
                    <a:srgbClr val="5C6B61"/>
                  </a:solidFill>
                  <a:latin typeface="JetBrains Mono" pitchFamily="34" charset="0"/>
                  <a:ea typeface="JetBrains Mono" pitchFamily="34" charset="-122"/>
                  <a:cs typeface="JetBrains Mono" pitchFamily="34" charset="-120"/>
                </a:rPr>
                <a:t>MicrobialNT · incl. eukaryotes</a:t>
              </a:r>
              <a:endParaRPr lang="en-US" sz="1100" dirty="0"/>
            </a:p>
          </p:txBody>
        </p:sp>
        <p:sp>
          <p:nvSpPr>
            <p:cNvPr id="15" name="Text 13"/>
            <p:cNvSpPr/>
            <p:nvPr/>
          </p:nvSpPr>
          <p:spPr>
            <a:xfrm>
              <a:off x="5475996" y="4873486"/>
              <a:ext cx="1420105" cy="418982"/>
            </a:xfrm>
            <a:prstGeom prst="rect">
              <a:avLst/>
            </a:prstGeom>
            <a:noFill/>
            <a:ln/>
          </p:spPr>
          <p:txBody>
            <a:bodyPr wrap="square" lIns="25400" tIns="25400" rIns="25400" bIns="25400" rtlCol="0" anchor="t">
              <a:normAutofit/>
            </a:bodyPr>
            <a:lstStyle/>
            <a:p>
              <a:pPr marL="0" indent="0" algn="l">
                <a:buNone/>
              </a:pPr>
              <a:r>
                <a:rPr lang="en-US" sz="2000" kern="0" spc="-48" dirty="0">
                  <a:solidFill>
                    <a:srgbClr val="2F4632"/>
                  </a:solidFill>
                  <a:latin typeface="Fraunces" pitchFamily="34" charset="0"/>
                  <a:ea typeface="Fraunces" pitchFamily="34" charset="-122"/>
                  <a:cs typeface="Fraunces" pitchFamily="34" charset="-120"/>
                </a:rPr>
                <a:t>247 </a:t>
              </a:r>
              <a:r>
                <a:rPr lang="en-US" sz="2000" i="1" kern="0" spc="-48" dirty="0">
                  <a:solidFill>
                    <a:srgbClr val="5C6B61"/>
                  </a:solidFill>
                  <a:latin typeface="Fraunces" pitchFamily="34" charset="0"/>
                  <a:ea typeface="Fraunces" pitchFamily="34" charset="-122"/>
                  <a:cs typeface="Fraunces" pitchFamily="34" charset="-120"/>
                </a:rPr>
                <a:t>× </a:t>
              </a:r>
              <a:r>
                <a:rPr lang="en-US" sz="2000" kern="0" spc="-48" dirty="0">
                  <a:solidFill>
                    <a:srgbClr val="2F4632"/>
                  </a:solidFill>
                  <a:latin typeface="Fraunces" pitchFamily="34" charset="0"/>
                  <a:ea typeface="Fraunces" pitchFamily="34" charset="-122"/>
                  <a:cs typeface="Fraunces" pitchFamily="34" charset="-120"/>
                </a:rPr>
                <a:t>1662</a:t>
              </a:r>
              <a:endParaRPr lang="en-US" sz="2000" dirty="0"/>
            </a:p>
          </p:txBody>
        </p:sp>
      </p:grpSp>
      <p:grpSp>
        <p:nvGrpSpPr>
          <p:cNvPr id="35" name="Group 34">
            <a:extLst>
              <a:ext uri="{FF2B5EF4-FFF2-40B4-BE49-F238E27FC236}">
                <a16:creationId xmlns:a16="http://schemas.microsoft.com/office/drawing/2014/main" id="{4103C98B-48BA-1019-338E-E2A5D30011E7}"/>
              </a:ext>
            </a:extLst>
          </p:cNvPr>
          <p:cNvGrpSpPr/>
          <p:nvPr/>
        </p:nvGrpSpPr>
        <p:grpSpPr>
          <a:xfrm>
            <a:off x="5121592" y="2484083"/>
            <a:ext cx="8044815" cy="2905534"/>
            <a:chOff x="9546906" y="2484083"/>
            <a:chExt cx="8044815" cy="2905534"/>
          </a:xfrm>
        </p:grpSpPr>
        <p:sp>
          <p:nvSpPr>
            <p:cNvPr id="16" name="Shape 14"/>
            <p:cNvSpPr/>
            <p:nvPr/>
          </p:nvSpPr>
          <p:spPr>
            <a:xfrm>
              <a:off x="9546906" y="2484083"/>
              <a:ext cx="7810500" cy="17318"/>
            </a:xfrm>
            <a:prstGeom prst="rect">
              <a:avLst/>
            </a:prstGeom>
            <a:solidFill>
              <a:srgbClr val="4A6B4F"/>
            </a:solidFill>
            <a:ln/>
          </p:spPr>
          <p:txBody>
            <a:bodyPr/>
            <a:lstStyle/>
            <a:p>
              <a:endParaRPr lang="en-IT"/>
            </a:p>
          </p:txBody>
        </p:sp>
        <p:sp>
          <p:nvSpPr>
            <p:cNvPr id="17" name="Text 15"/>
            <p:cNvSpPr/>
            <p:nvPr/>
          </p:nvSpPr>
          <p:spPr>
            <a:xfrm>
              <a:off x="9546906" y="2646882"/>
              <a:ext cx="8044815" cy="297859"/>
            </a:xfrm>
            <a:prstGeom prst="rect">
              <a:avLst/>
            </a:prstGeom>
            <a:noFill/>
            <a:ln/>
          </p:spPr>
          <p:txBody>
            <a:bodyPr wrap="square" lIns="25400" tIns="25400" rIns="25400" bIns="25400" rtlCol="0" anchor="t">
              <a:noAutofit/>
            </a:bodyPr>
            <a:lstStyle/>
            <a:p>
              <a:pPr marL="0" indent="0" algn="l">
                <a:buNone/>
              </a:pPr>
              <a:r>
                <a:rPr lang="en-US" sz="1600" kern="0" spc="176" dirty="0">
                  <a:solidFill>
                    <a:srgbClr val="4A6B4F"/>
                  </a:solidFill>
                  <a:latin typeface="JetBrains Mono" pitchFamily="34" charset="0"/>
                  <a:ea typeface="JetBrains Mono" pitchFamily="34" charset="-122"/>
                  <a:cs typeface="JetBrains Mono" pitchFamily="34" charset="-120"/>
                </a:rPr>
                <a:t>FIRST EXPLORATORY PASS</a:t>
              </a:r>
              <a:endParaRPr lang="en-US" sz="1600" dirty="0"/>
            </a:p>
          </p:txBody>
        </p:sp>
        <p:sp>
          <p:nvSpPr>
            <p:cNvPr id="18" name="Text 16"/>
            <p:cNvSpPr/>
            <p:nvPr/>
          </p:nvSpPr>
          <p:spPr>
            <a:xfrm>
              <a:off x="9546906" y="3027847"/>
              <a:ext cx="5721351" cy="415244"/>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700" kern="0" spc="-27" dirty="0">
                  <a:solidFill>
                    <a:srgbClr val="1B2A22"/>
                  </a:solidFill>
                  <a:latin typeface="Fraunces" pitchFamily="34" charset="0"/>
                  <a:ea typeface="Fraunces" pitchFamily="34" charset="-122"/>
                  <a:cs typeface="Fraunces" pitchFamily="34" charset="-120"/>
                </a:rPr>
                <a:t>Both tools see the same dominant biology</a:t>
              </a:r>
              <a:endParaRPr lang="en-US" sz="2700" dirty="0"/>
            </a:p>
          </p:txBody>
        </p:sp>
        <p:sp>
          <p:nvSpPr>
            <p:cNvPr id="19" name="Text 17"/>
            <p:cNvSpPr/>
            <p:nvPr/>
          </p:nvSpPr>
          <p:spPr>
            <a:xfrm>
              <a:off x="9549387" y="3520514"/>
              <a:ext cx="7861338" cy="436017"/>
            </a:xfrm>
            <a:prstGeom prst="rect">
              <a:avLst/>
            </a:prstGeom>
            <a:noFill/>
            <a:ln/>
          </p:spPr>
          <p:txBody>
            <a:bodyPr wrap="square" lIns="25400" tIns="25400" rIns="25400" bIns="25400" rtlCol="0" anchor="t">
              <a:normAutofit fontScale="92500"/>
            </a:bodyPr>
            <a:lstStyle/>
            <a:p>
              <a:pPr>
                <a:lnSpc>
                  <a:spcPct val="150000"/>
                </a:lnSpc>
              </a:pPr>
              <a:r>
                <a:rPr lang="en-US" sz="1425" dirty="0">
                  <a:solidFill>
                    <a:srgbClr val="2F4438"/>
                  </a:solidFill>
                  <a:latin typeface="Inter" pitchFamily="34" charset="0"/>
                  <a:ea typeface="Inter" pitchFamily="34" charset="-122"/>
                  <a:cs typeface="Inter" pitchFamily="34" charset="-120"/>
                </a:rPr>
                <a:t>Top family is </a:t>
              </a:r>
              <a:r>
                <a:rPr lang="en-GB" sz="1400" b="1" i="1" dirty="0" err="1">
                  <a:solidFill>
                    <a:srgbClr val="2F4438"/>
                  </a:solidFill>
                  <a:latin typeface="Inter" pitchFamily="34" charset="0"/>
                  <a:ea typeface="Inter" pitchFamily="34" charset="-122"/>
                </a:rPr>
                <a:t>Burkholderiaceae</a:t>
              </a:r>
              <a:r>
                <a:rPr lang="en-GB" sz="1600" dirty="0"/>
                <a:t> </a:t>
              </a:r>
              <a:r>
                <a:rPr lang="en-US" sz="1425" dirty="0">
                  <a:solidFill>
                    <a:srgbClr val="2F4438"/>
                  </a:solidFill>
                  <a:latin typeface="Inter" pitchFamily="34" charset="0"/>
                  <a:ea typeface="Inter" pitchFamily="34" charset="-122"/>
                  <a:cs typeface="Inter" pitchFamily="34" charset="-120"/>
                </a:rPr>
                <a:t>in both. The </a:t>
              </a:r>
              <a:r>
                <a:rPr lang="en-US" sz="1425" b="1" dirty="0">
                  <a:solidFill>
                    <a:srgbClr val="2F4438"/>
                  </a:solidFill>
                  <a:latin typeface="Inter" pitchFamily="34" charset="0"/>
                  <a:ea typeface="Inter" pitchFamily="34" charset="-122"/>
                  <a:cs typeface="Inter" pitchFamily="34" charset="-120"/>
                </a:rPr>
                <a:t>same sample is highest</a:t>
              </a:r>
              <a:r>
                <a:rPr lang="en-US" sz="1425" dirty="0">
                  <a:solidFill>
                    <a:srgbClr val="2F4438"/>
                  </a:solidFill>
                  <a:latin typeface="Inter" pitchFamily="34" charset="0"/>
                  <a:ea typeface="Inter" pitchFamily="34" charset="-122"/>
                  <a:cs typeface="Inter" pitchFamily="34" charset="-120"/>
                </a:rPr>
                <a:t>, the </a:t>
              </a:r>
              <a:r>
                <a:rPr lang="en-US" sz="1425" b="1" dirty="0">
                  <a:solidFill>
                    <a:srgbClr val="2F4438"/>
                  </a:solidFill>
                  <a:latin typeface="Inter" pitchFamily="34" charset="0"/>
                  <a:ea typeface="Inter" pitchFamily="34" charset="-122"/>
                  <a:cs typeface="Inter" pitchFamily="34" charset="-120"/>
                </a:rPr>
                <a:t>same sample is lowest</a:t>
              </a:r>
              <a:r>
                <a:rPr lang="en-US" sz="1425" dirty="0">
                  <a:solidFill>
                    <a:srgbClr val="2F4438"/>
                  </a:solidFill>
                  <a:latin typeface="Inter" pitchFamily="34" charset="0"/>
                  <a:ea typeface="Inter" pitchFamily="34" charset="-122"/>
                  <a:cs typeface="Inter" pitchFamily="34" charset="-120"/>
                </a:rPr>
                <a:t>, in both tools</a:t>
              </a:r>
              <a:endParaRPr lang="en-US" sz="1425" dirty="0"/>
            </a:p>
          </p:txBody>
        </p:sp>
        <p:sp>
          <p:nvSpPr>
            <p:cNvPr id="20" name="Shape 18"/>
            <p:cNvSpPr/>
            <p:nvPr/>
          </p:nvSpPr>
          <p:spPr>
            <a:xfrm>
              <a:off x="9546906" y="4018864"/>
              <a:ext cx="3429000" cy="1370753"/>
            </a:xfrm>
            <a:prstGeom prst="rect">
              <a:avLst/>
            </a:prstGeom>
            <a:solidFill>
              <a:srgbClr val="FFFFFF"/>
            </a:solidFill>
            <a:ln w="8659">
              <a:solidFill>
                <a:srgbClr val="D7D2C5"/>
              </a:solidFill>
              <a:prstDash val="solid"/>
            </a:ln>
          </p:spPr>
          <p:txBody>
            <a:bodyPr/>
            <a:lstStyle/>
            <a:p>
              <a:endParaRPr lang="en-IT"/>
            </a:p>
          </p:txBody>
        </p:sp>
        <p:sp>
          <p:nvSpPr>
            <p:cNvPr id="21" name="Text 19"/>
            <p:cNvSpPr/>
            <p:nvPr/>
          </p:nvSpPr>
          <p:spPr>
            <a:xfrm>
              <a:off x="9666995" y="4188628"/>
              <a:ext cx="3435574" cy="189634"/>
            </a:xfrm>
            <a:prstGeom prst="rect">
              <a:avLst/>
            </a:prstGeom>
            <a:noFill/>
            <a:ln/>
          </p:spPr>
          <p:txBody>
            <a:bodyPr wrap="square" lIns="25400" tIns="25400" rIns="25400" bIns="25400" rtlCol="0" anchor="t">
              <a:noAutofit/>
            </a:bodyPr>
            <a:lstStyle/>
            <a:p>
              <a:pPr marL="0" indent="0" algn="l">
                <a:buNone/>
              </a:pPr>
              <a:r>
                <a:rPr lang="en-US" sz="1100" kern="0" spc="108" dirty="0">
                  <a:solidFill>
                    <a:srgbClr val="5C6B61"/>
                  </a:solidFill>
                  <a:latin typeface="JetBrains Mono" pitchFamily="34" charset="0"/>
                  <a:ea typeface="JetBrains Mono" pitchFamily="34" charset="-122"/>
                  <a:cs typeface="JetBrains Mono" pitchFamily="34" charset="-120"/>
                </a:rPr>
                <a:t>HIGHEST BACTERIAL FRACTION</a:t>
              </a:r>
              <a:endParaRPr lang="en-US" sz="1100" dirty="0"/>
            </a:p>
          </p:txBody>
        </p:sp>
        <p:sp>
          <p:nvSpPr>
            <p:cNvPr id="22" name="Text 20"/>
            <p:cNvSpPr/>
            <p:nvPr/>
          </p:nvSpPr>
          <p:spPr>
            <a:xfrm>
              <a:off x="9666995" y="4514031"/>
              <a:ext cx="3435574" cy="263236"/>
            </a:xfrm>
            <a:prstGeom prst="rect">
              <a:avLst/>
            </a:prstGeom>
            <a:noFill/>
            <a:ln/>
          </p:spPr>
          <p:txBody>
            <a:bodyPr wrap="square" lIns="25400" tIns="25400" rIns="25400" bIns="25400" rtlCol="0" anchor="t">
              <a:normAutofit/>
            </a:bodyPr>
            <a:lstStyle/>
            <a:p>
              <a:pPr marL="0" indent="0" algn="l">
                <a:buNone/>
              </a:pPr>
              <a:r>
                <a:rPr lang="en-US" sz="1350" dirty="0">
                  <a:solidFill>
                    <a:srgbClr val="1B2A22"/>
                  </a:solidFill>
                  <a:latin typeface="JetBrains Mono" pitchFamily="34" charset="0"/>
                  <a:ea typeface="JetBrains Mono" pitchFamily="34" charset="-122"/>
                  <a:cs typeface="JetBrains Mono" pitchFamily="34" charset="-120"/>
                </a:rPr>
                <a:t>P35761_1115*</a:t>
              </a:r>
              <a:endParaRPr lang="en-US" sz="1350" dirty="0"/>
            </a:p>
          </p:txBody>
        </p:sp>
        <p:sp>
          <p:nvSpPr>
            <p:cNvPr id="23" name="Text 21"/>
            <p:cNvSpPr/>
            <p:nvPr/>
          </p:nvSpPr>
          <p:spPr>
            <a:xfrm>
              <a:off x="9666995" y="4901983"/>
              <a:ext cx="3435574" cy="39312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F4632"/>
                  </a:solidFill>
                  <a:latin typeface="Fraunces" pitchFamily="34" charset="0"/>
                  <a:ea typeface="Fraunces" pitchFamily="34" charset="-122"/>
                  <a:cs typeface="Fraunces" pitchFamily="34" charset="-120"/>
                </a:rPr>
                <a:t>51.6% / 22.7%</a:t>
              </a:r>
              <a:endParaRPr lang="en-US" sz="2250" dirty="0"/>
            </a:p>
          </p:txBody>
        </p:sp>
        <p:sp>
          <p:nvSpPr>
            <p:cNvPr id="24" name="Shape 22"/>
            <p:cNvSpPr/>
            <p:nvPr/>
          </p:nvSpPr>
          <p:spPr>
            <a:xfrm>
              <a:off x="13855062" y="4013182"/>
              <a:ext cx="3429000" cy="1301299"/>
            </a:xfrm>
            <a:prstGeom prst="rect">
              <a:avLst/>
            </a:prstGeom>
            <a:solidFill>
              <a:srgbClr val="FFFFFF"/>
            </a:solidFill>
            <a:ln w="8659">
              <a:solidFill>
                <a:srgbClr val="D7D2C5"/>
              </a:solidFill>
              <a:prstDash val="solid"/>
            </a:ln>
          </p:spPr>
          <p:txBody>
            <a:bodyPr/>
            <a:lstStyle/>
            <a:p>
              <a:endParaRPr lang="en-IT"/>
            </a:p>
          </p:txBody>
        </p:sp>
        <p:sp>
          <p:nvSpPr>
            <p:cNvPr id="25" name="Text 23"/>
            <p:cNvSpPr/>
            <p:nvPr/>
          </p:nvSpPr>
          <p:spPr>
            <a:xfrm>
              <a:off x="13975151" y="4184198"/>
              <a:ext cx="2232512" cy="208710"/>
            </a:xfrm>
            <a:prstGeom prst="rect">
              <a:avLst/>
            </a:prstGeom>
            <a:noFill/>
            <a:ln/>
          </p:spPr>
          <p:txBody>
            <a:bodyPr wrap="square" lIns="25400" tIns="25400" rIns="25400" bIns="25400" rtlCol="0" anchor="t">
              <a:noAutofit/>
            </a:bodyPr>
            <a:lstStyle/>
            <a:p>
              <a:pPr marL="0" indent="0" algn="l">
                <a:buNone/>
              </a:pPr>
              <a:r>
                <a:rPr lang="en-US" sz="1100" kern="0" spc="108" dirty="0">
                  <a:solidFill>
                    <a:srgbClr val="5C6B61"/>
                  </a:solidFill>
                  <a:latin typeface="JetBrains Mono" pitchFamily="34" charset="0"/>
                  <a:ea typeface="JetBrains Mono" pitchFamily="34" charset="-122"/>
                  <a:cs typeface="JetBrains Mono" pitchFamily="34" charset="-120"/>
                </a:rPr>
                <a:t>LOWEST BACTERIAL FRACTION</a:t>
              </a:r>
              <a:endParaRPr lang="en-US" sz="1100" dirty="0"/>
            </a:p>
          </p:txBody>
        </p:sp>
        <p:sp>
          <p:nvSpPr>
            <p:cNvPr id="26" name="Text 24"/>
            <p:cNvSpPr/>
            <p:nvPr/>
          </p:nvSpPr>
          <p:spPr>
            <a:xfrm>
              <a:off x="13975151" y="4526622"/>
              <a:ext cx="3435574" cy="263236"/>
            </a:xfrm>
            <a:prstGeom prst="rect">
              <a:avLst/>
            </a:prstGeom>
            <a:noFill/>
            <a:ln/>
          </p:spPr>
          <p:txBody>
            <a:bodyPr wrap="square" lIns="25400" tIns="25400" rIns="25400" bIns="25400" rtlCol="0" anchor="t">
              <a:normAutofit/>
            </a:bodyPr>
            <a:lstStyle/>
            <a:p>
              <a:pPr marL="0" indent="0" algn="l">
                <a:buNone/>
              </a:pPr>
              <a:r>
                <a:rPr lang="en-US" sz="1350" dirty="0">
                  <a:solidFill>
                    <a:srgbClr val="1B2A22"/>
                  </a:solidFill>
                  <a:latin typeface="JetBrains Mono" pitchFamily="34" charset="0"/>
                  <a:ea typeface="JetBrains Mono" pitchFamily="34" charset="-122"/>
                  <a:cs typeface="JetBrains Mono" pitchFamily="34" charset="-120"/>
                </a:rPr>
                <a:t>P32015_1105</a:t>
              </a:r>
              <a:endParaRPr lang="en-US" sz="1350" dirty="0"/>
            </a:p>
          </p:txBody>
        </p:sp>
        <p:sp>
          <p:nvSpPr>
            <p:cNvPr id="27" name="Text 25"/>
            <p:cNvSpPr/>
            <p:nvPr/>
          </p:nvSpPr>
          <p:spPr>
            <a:xfrm>
              <a:off x="13975151" y="4830345"/>
              <a:ext cx="3435574" cy="39312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F4632"/>
                  </a:solidFill>
                  <a:latin typeface="Fraunces" pitchFamily="34" charset="0"/>
                  <a:ea typeface="Fraunces" pitchFamily="34" charset="-122"/>
                  <a:cs typeface="Fraunces" pitchFamily="34" charset="-120"/>
                </a:rPr>
                <a:t>0.84% / 0.30%</a:t>
              </a:r>
              <a:endParaRPr lang="en-US" sz="2250" dirty="0"/>
            </a:p>
          </p:txBody>
        </p:sp>
      </p:grpSp>
      <p:sp>
        <p:nvSpPr>
          <p:cNvPr id="31" name="Text 29"/>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sp>
        <p:nvSpPr>
          <p:cNvPr id="29" name="TextBox 28">
            <a:extLst>
              <a:ext uri="{FF2B5EF4-FFF2-40B4-BE49-F238E27FC236}">
                <a16:creationId xmlns:a16="http://schemas.microsoft.com/office/drawing/2014/main" id="{EB5DE330-DE64-2C56-4839-EEC9160D2EB4}"/>
              </a:ext>
            </a:extLst>
          </p:cNvPr>
          <p:cNvSpPr txBox="1"/>
          <p:nvPr/>
        </p:nvSpPr>
        <p:spPr>
          <a:xfrm>
            <a:off x="5090964" y="5503862"/>
            <a:ext cx="3926287" cy="300980"/>
          </a:xfrm>
          <a:prstGeom prst="rect">
            <a:avLst/>
          </a:prstGeom>
          <a:noFill/>
        </p:spPr>
        <p:txBody>
          <a:bodyPr wrap="square">
            <a:spAutoFit/>
          </a:bodyPr>
          <a:lstStyle/>
          <a:p>
            <a:pPr>
              <a:lnSpc>
                <a:spcPct val="135000"/>
              </a:lnSpc>
            </a:pPr>
            <a:r>
              <a:rPr lang="en-GB" sz="1100" dirty="0">
                <a:solidFill>
                  <a:srgbClr val="2F4438"/>
                </a:solidFill>
                <a:latin typeface="Inter" pitchFamily="34" charset="0"/>
                <a:ea typeface="Inter" pitchFamily="34" charset="-122"/>
              </a:rPr>
              <a:t>* Note: some samples are missing from the </a:t>
            </a:r>
            <a:r>
              <a:rPr lang="en-GB" sz="1100" i="1" dirty="0" err="1">
                <a:solidFill>
                  <a:srgbClr val="2F4438"/>
                </a:solidFill>
                <a:latin typeface="Inter" pitchFamily="34" charset="0"/>
                <a:ea typeface="Inter" pitchFamily="34" charset="-122"/>
              </a:rPr>
              <a:t>metadataGOG</a:t>
            </a:r>
            <a:r>
              <a:rPr lang="en-GB" sz="1100" i="1" dirty="0">
                <a:solidFill>
                  <a:srgbClr val="2F4438"/>
                </a:solidFill>
                <a:latin typeface="Inter" pitchFamily="34" charset="0"/>
                <a:ea typeface="Inter" pitchFamily="34" charset="-122"/>
              </a:rPr>
              <a:t> </a:t>
            </a:r>
            <a:r>
              <a:rPr lang="en-GB" sz="1100" dirty="0">
                <a:solidFill>
                  <a:srgbClr val="2F4438"/>
                </a:solidFill>
                <a:latin typeface="Inter" pitchFamily="34" charset="0"/>
                <a:ea typeface="Inter" pitchFamily="34" charset="-122"/>
              </a:rPr>
              <a:t>file</a:t>
            </a:r>
            <a:endParaRPr lang="en-US" sz="1100" dirty="0">
              <a:solidFill>
                <a:srgbClr val="2F4438"/>
              </a:solidFill>
              <a:latin typeface="Inter" pitchFamily="34" charset="0"/>
              <a:ea typeface="Inter"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04 · CLEANING DECISIONS</a:t>
            </a:r>
            <a:endParaRPr lang="en-US" sz="1600" dirty="0"/>
          </a:p>
        </p:txBody>
      </p:sp>
      <p:sp>
        <p:nvSpPr>
          <p:cNvPr id="3" name="Text 1"/>
          <p:cNvSpPr/>
          <p:nvPr/>
        </p:nvSpPr>
        <p:spPr>
          <a:xfrm>
            <a:off x="1047750" y="1381950"/>
            <a:ext cx="16678275"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Four choices that make the comparison fair.</a:t>
            </a:r>
            <a:endParaRPr lang="en-US" sz="4200" dirty="0"/>
          </a:p>
        </p:txBody>
      </p:sp>
      <p:sp>
        <p:nvSpPr>
          <p:cNvPr id="4" name="Shape 2"/>
          <p:cNvSpPr/>
          <p:nvPr/>
        </p:nvSpPr>
        <p:spPr>
          <a:xfrm>
            <a:off x="1047750" y="2722327"/>
            <a:ext cx="7867663" cy="1515341"/>
          </a:xfrm>
          <a:prstGeom prst="rect">
            <a:avLst/>
          </a:prstGeom>
          <a:solidFill>
            <a:srgbClr val="FFFFFF"/>
          </a:solidFill>
          <a:ln w="8659">
            <a:solidFill>
              <a:srgbClr val="D7D2C5"/>
            </a:solidFill>
            <a:prstDash val="solid"/>
          </a:ln>
        </p:spPr>
        <p:txBody>
          <a:bodyPr/>
          <a:lstStyle/>
          <a:p>
            <a:endParaRPr lang="en-IT"/>
          </a:p>
        </p:txBody>
      </p:sp>
      <p:sp>
        <p:nvSpPr>
          <p:cNvPr id="5" name="Text 3"/>
          <p:cNvSpPr/>
          <p:nvPr/>
        </p:nvSpPr>
        <p:spPr>
          <a:xfrm>
            <a:off x="8466697" y="2940495"/>
            <a:ext cx="249585" cy="202623"/>
          </a:xfrm>
          <a:prstGeom prst="rect">
            <a:avLst/>
          </a:prstGeom>
          <a:noFill/>
          <a:ln/>
        </p:spPr>
        <p:txBody>
          <a:bodyPr wrap="square" lIns="25400" tIns="25400" rIns="25400" bIns="25400" rtlCol="0" anchor="t">
            <a:normAutofit/>
          </a:bodyPr>
          <a:lstStyle/>
          <a:p>
            <a:pPr marL="0" indent="0" algn="l">
              <a:buNone/>
            </a:pPr>
            <a:r>
              <a:rPr lang="en-US" sz="975" kern="0" spc="98" dirty="0">
                <a:solidFill>
                  <a:srgbClr val="4A6B4F"/>
                </a:solidFill>
                <a:latin typeface="JetBrains Mono" pitchFamily="34" charset="0"/>
                <a:ea typeface="JetBrains Mono" pitchFamily="34" charset="-122"/>
                <a:cs typeface="JetBrains Mono" pitchFamily="34" charset="-120"/>
              </a:rPr>
              <a:t>01</a:t>
            </a:r>
            <a:endParaRPr lang="en-US" sz="975" dirty="0"/>
          </a:p>
        </p:txBody>
      </p:sp>
      <p:sp>
        <p:nvSpPr>
          <p:cNvPr id="6" name="Text 4"/>
          <p:cNvSpPr/>
          <p:nvPr/>
        </p:nvSpPr>
        <p:spPr>
          <a:xfrm>
            <a:off x="1380246" y="3035745"/>
            <a:ext cx="6847252" cy="34549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B2A22"/>
                </a:solidFill>
                <a:latin typeface="Fraunces" pitchFamily="34" charset="0"/>
                <a:ea typeface="Fraunces" pitchFamily="34" charset="-122"/>
                <a:cs typeface="Fraunces" pitchFamily="34" charset="-120"/>
              </a:rPr>
              <a:t>Sample intersection (not union)</a:t>
            </a:r>
            <a:endParaRPr lang="en-US" sz="1950" dirty="0"/>
          </a:p>
        </p:txBody>
      </p:sp>
      <p:sp>
        <p:nvSpPr>
          <p:cNvPr id="7" name="Text 5"/>
          <p:cNvSpPr/>
          <p:nvPr/>
        </p:nvSpPr>
        <p:spPr>
          <a:xfrm>
            <a:off x="1380246" y="3438393"/>
            <a:ext cx="7418752" cy="523956"/>
          </a:xfrm>
          <a:prstGeom prst="rect">
            <a:avLst/>
          </a:prstGeom>
          <a:noFill/>
          <a:ln/>
        </p:spPr>
        <p:txBody>
          <a:bodyPr wrap="square" lIns="25400" tIns="25400" rIns="25400" bIns="25400" rtlCol="0" anchor="t">
            <a:noAutofit/>
          </a:bodyPr>
          <a:lstStyle/>
          <a:p>
            <a:pPr marL="0" indent="0" algn="l">
              <a:buNone/>
            </a:pPr>
            <a:r>
              <a:rPr lang="en-US" sz="1600" dirty="0">
                <a:solidFill>
                  <a:srgbClr val="5C6B61"/>
                </a:solidFill>
                <a:latin typeface="Inter" pitchFamily="34" charset="0"/>
                <a:ea typeface="Inter" pitchFamily="34" charset="-122"/>
                <a:cs typeface="Inter" pitchFamily="34" charset="-120"/>
              </a:rPr>
              <a:t>Used the 246 samples present in </a:t>
            </a:r>
            <a:r>
              <a:rPr lang="en-US" sz="1600" i="1" dirty="0">
                <a:solidFill>
                  <a:srgbClr val="5C6B61"/>
                </a:solidFill>
                <a:latin typeface="Inter" pitchFamily="34" charset="0"/>
                <a:ea typeface="Inter" pitchFamily="34" charset="-122"/>
                <a:cs typeface="Inter" pitchFamily="34" charset="-120"/>
              </a:rPr>
              <a:t>both </a:t>
            </a:r>
            <a:r>
              <a:rPr lang="en-US" sz="1600" dirty="0">
                <a:solidFill>
                  <a:srgbClr val="5C6B61"/>
                </a:solidFill>
                <a:latin typeface="Inter" pitchFamily="34" charset="0"/>
                <a:ea typeface="Inter" pitchFamily="34" charset="-122"/>
                <a:cs typeface="Inter" pitchFamily="34" charset="-120"/>
              </a:rPr>
              <a:t>tools. </a:t>
            </a:r>
          </a:p>
          <a:p>
            <a:pPr marL="0" indent="0" algn="l">
              <a:buNone/>
            </a:pPr>
            <a:r>
              <a:rPr lang="en-US" sz="1600" dirty="0">
                <a:solidFill>
                  <a:srgbClr val="5C6B61"/>
                </a:solidFill>
                <a:latin typeface="Inter" pitchFamily="34" charset="0"/>
                <a:ea typeface="Inter" pitchFamily="34" charset="-122"/>
                <a:cs typeface="Inter" pitchFamily="34" charset="-120"/>
              </a:rPr>
              <a:t>Avoids zero-padding artifacts that bias multivariate analysis.</a:t>
            </a:r>
            <a:endParaRPr lang="en-US" sz="1600" dirty="0"/>
          </a:p>
        </p:txBody>
      </p:sp>
      <p:sp>
        <p:nvSpPr>
          <p:cNvPr id="8" name="Shape 6"/>
          <p:cNvSpPr/>
          <p:nvPr/>
        </p:nvSpPr>
        <p:spPr>
          <a:xfrm>
            <a:off x="9372586" y="2722327"/>
            <a:ext cx="7867663" cy="1515341"/>
          </a:xfrm>
          <a:prstGeom prst="rect">
            <a:avLst/>
          </a:prstGeom>
          <a:solidFill>
            <a:srgbClr val="FFFFFF"/>
          </a:solidFill>
          <a:ln w="8659">
            <a:solidFill>
              <a:srgbClr val="D7D2C5"/>
            </a:solidFill>
            <a:prstDash val="solid"/>
          </a:ln>
        </p:spPr>
        <p:txBody>
          <a:bodyPr/>
          <a:lstStyle/>
          <a:p>
            <a:endParaRPr lang="en-IT"/>
          </a:p>
        </p:txBody>
      </p:sp>
      <p:sp>
        <p:nvSpPr>
          <p:cNvPr id="9" name="Text 7"/>
          <p:cNvSpPr/>
          <p:nvPr/>
        </p:nvSpPr>
        <p:spPr>
          <a:xfrm>
            <a:off x="16791532" y="2940495"/>
            <a:ext cx="249585" cy="202623"/>
          </a:xfrm>
          <a:prstGeom prst="rect">
            <a:avLst/>
          </a:prstGeom>
          <a:noFill/>
          <a:ln/>
        </p:spPr>
        <p:txBody>
          <a:bodyPr wrap="square" lIns="25400" tIns="25400" rIns="25400" bIns="25400" rtlCol="0" anchor="t">
            <a:normAutofit/>
          </a:bodyPr>
          <a:lstStyle/>
          <a:p>
            <a:pPr marL="0" indent="0" algn="l">
              <a:buNone/>
            </a:pPr>
            <a:r>
              <a:rPr lang="en-US" sz="975" kern="0" spc="98" dirty="0">
                <a:solidFill>
                  <a:srgbClr val="4A6B4F"/>
                </a:solidFill>
                <a:latin typeface="JetBrains Mono" pitchFamily="34" charset="0"/>
                <a:ea typeface="JetBrains Mono" pitchFamily="34" charset="-122"/>
                <a:cs typeface="JetBrains Mono" pitchFamily="34" charset="-120"/>
              </a:rPr>
              <a:t>02</a:t>
            </a:r>
            <a:endParaRPr lang="en-US" sz="975" dirty="0"/>
          </a:p>
        </p:txBody>
      </p:sp>
      <p:sp>
        <p:nvSpPr>
          <p:cNvPr id="10" name="Text 8"/>
          <p:cNvSpPr/>
          <p:nvPr/>
        </p:nvSpPr>
        <p:spPr>
          <a:xfrm>
            <a:off x="9705081" y="3035745"/>
            <a:ext cx="6847252" cy="34549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B2A22"/>
                </a:solidFill>
                <a:latin typeface="Fraunces" pitchFamily="34" charset="0"/>
                <a:ea typeface="Fraunces" pitchFamily="34" charset="-122"/>
                <a:cs typeface="Fraunces" pitchFamily="34" charset="-120"/>
              </a:rPr>
              <a:t>Removed Hominidae</a:t>
            </a:r>
            <a:endParaRPr lang="en-US" sz="1950" dirty="0"/>
          </a:p>
        </p:txBody>
      </p:sp>
      <p:sp>
        <p:nvSpPr>
          <p:cNvPr id="11" name="Text 9"/>
          <p:cNvSpPr/>
          <p:nvPr/>
        </p:nvSpPr>
        <p:spPr>
          <a:xfrm>
            <a:off x="9705081" y="3438393"/>
            <a:ext cx="7418752" cy="523956"/>
          </a:xfrm>
          <a:prstGeom prst="rect">
            <a:avLst/>
          </a:prstGeom>
          <a:noFill/>
          <a:ln/>
        </p:spPr>
        <p:txBody>
          <a:bodyPr wrap="square" lIns="25400" tIns="25400" rIns="25400" bIns="25400" rtlCol="0" anchor="t">
            <a:noAutofit/>
          </a:bodyPr>
          <a:lstStyle/>
          <a:p>
            <a:pPr marL="0" indent="0" algn="l">
              <a:buNone/>
            </a:pPr>
            <a:r>
              <a:rPr lang="en-US" sz="1600" dirty="0">
                <a:solidFill>
                  <a:srgbClr val="5C6B61"/>
                </a:solidFill>
                <a:latin typeface="Inter" pitchFamily="34" charset="0"/>
                <a:ea typeface="Inter" pitchFamily="34" charset="-122"/>
                <a:cs typeface="Inter" pitchFamily="34" charset="-120"/>
              </a:rPr>
              <a:t>Kraken2/GTDB has no eukaryotes. </a:t>
            </a:r>
          </a:p>
          <a:p>
            <a:pPr marL="0" indent="0" algn="l">
              <a:buNone/>
            </a:pPr>
            <a:r>
              <a:rPr lang="en-US" sz="1600" dirty="0">
                <a:solidFill>
                  <a:srgbClr val="5C6B61"/>
                </a:solidFill>
                <a:latin typeface="Inter" pitchFamily="34" charset="0"/>
                <a:ea typeface="Inter" pitchFamily="34" charset="-122"/>
                <a:cs typeface="Inter" pitchFamily="34" charset="-120"/>
              </a:rPr>
              <a:t>Hominidae was 43% of </a:t>
            </a:r>
            <a:r>
              <a:rPr lang="en-US" sz="1600" dirty="0" err="1">
                <a:solidFill>
                  <a:srgbClr val="5C6B61"/>
                </a:solidFill>
                <a:latin typeface="Inter" pitchFamily="34" charset="0"/>
                <a:ea typeface="Inter" pitchFamily="34" charset="-122"/>
                <a:cs typeface="Inter" pitchFamily="34" charset="-120"/>
              </a:rPr>
              <a:t>KrakenUniq</a:t>
            </a:r>
            <a:r>
              <a:rPr lang="en-US" sz="1600" dirty="0">
                <a:solidFill>
                  <a:srgbClr val="5C6B61"/>
                </a:solidFill>
                <a:latin typeface="Inter" pitchFamily="34" charset="0"/>
                <a:ea typeface="Inter" pitchFamily="34" charset="-122"/>
                <a:cs typeface="Inter" pitchFamily="34" charset="-120"/>
              </a:rPr>
              <a:t> reads: keeping it would mask the microbial signal.</a:t>
            </a:r>
            <a:endParaRPr lang="en-US" sz="1600" dirty="0"/>
          </a:p>
        </p:txBody>
      </p:sp>
      <p:sp>
        <p:nvSpPr>
          <p:cNvPr id="12" name="Shape 10"/>
          <p:cNvSpPr/>
          <p:nvPr/>
        </p:nvSpPr>
        <p:spPr>
          <a:xfrm>
            <a:off x="1047750" y="5049277"/>
            <a:ext cx="7867663" cy="1515341"/>
          </a:xfrm>
          <a:prstGeom prst="rect">
            <a:avLst/>
          </a:prstGeom>
          <a:solidFill>
            <a:srgbClr val="FFFFFF"/>
          </a:solidFill>
          <a:ln w="8659">
            <a:solidFill>
              <a:srgbClr val="D7D2C5"/>
            </a:solidFill>
            <a:prstDash val="solid"/>
          </a:ln>
        </p:spPr>
        <p:txBody>
          <a:bodyPr/>
          <a:lstStyle/>
          <a:p>
            <a:endParaRPr lang="en-IT"/>
          </a:p>
        </p:txBody>
      </p:sp>
      <p:sp>
        <p:nvSpPr>
          <p:cNvPr id="13" name="Text 11"/>
          <p:cNvSpPr/>
          <p:nvPr/>
        </p:nvSpPr>
        <p:spPr>
          <a:xfrm>
            <a:off x="8466697" y="5267445"/>
            <a:ext cx="249585" cy="202623"/>
          </a:xfrm>
          <a:prstGeom prst="rect">
            <a:avLst/>
          </a:prstGeom>
          <a:noFill/>
          <a:ln/>
        </p:spPr>
        <p:txBody>
          <a:bodyPr wrap="square" lIns="25400" tIns="25400" rIns="25400" bIns="25400" rtlCol="0" anchor="t">
            <a:normAutofit/>
          </a:bodyPr>
          <a:lstStyle/>
          <a:p>
            <a:pPr marL="0" indent="0" algn="l">
              <a:buNone/>
            </a:pPr>
            <a:r>
              <a:rPr lang="en-US" sz="975" kern="0" spc="98" dirty="0">
                <a:solidFill>
                  <a:srgbClr val="4A6B4F"/>
                </a:solidFill>
                <a:latin typeface="JetBrains Mono" pitchFamily="34" charset="0"/>
                <a:ea typeface="JetBrains Mono" pitchFamily="34" charset="-122"/>
                <a:cs typeface="JetBrains Mono" pitchFamily="34" charset="-120"/>
              </a:rPr>
              <a:t>03</a:t>
            </a:r>
            <a:endParaRPr lang="en-US" sz="975" dirty="0"/>
          </a:p>
        </p:txBody>
      </p:sp>
      <p:sp>
        <p:nvSpPr>
          <p:cNvPr id="14" name="Text 12"/>
          <p:cNvSpPr/>
          <p:nvPr/>
        </p:nvSpPr>
        <p:spPr>
          <a:xfrm>
            <a:off x="1380246" y="5362695"/>
            <a:ext cx="6847252" cy="34549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B2A22"/>
                </a:solidFill>
                <a:latin typeface="Fraunces" pitchFamily="34" charset="0"/>
                <a:ea typeface="Fraunces" pitchFamily="34" charset="-122"/>
                <a:cs typeface="Fraunces" pitchFamily="34" charset="-120"/>
              </a:rPr>
              <a:t>Excluded P34558_1102</a:t>
            </a:r>
            <a:endParaRPr lang="en-US" sz="1950" dirty="0"/>
          </a:p>
        </p:txBody>
      </p:sp>
      <p:sp>
        <p:nvSpPr>
          <p:cNvPr id="15" name="Text 13"/>
          <p:cNvSpPr/>
          <p:nvPr/>
        </p:nvSpPr>
        <p:spPr>
          <a:xfrm>
            <a:off x="1380246" y="5765343"/>
            <a:ext cx="7418752" cy="523956"/>
          </a:xfrm>
          <a:prstGeom prst="rect">
            <a:avLst/>
          </a:prstGeom>
          <a:noFill/>
          <a:ln/>
        </p:spPr>
        <p:txBody>
          <a:bodyPr wrap="square" lIns="25400" tIns="25400" rIns="25400" bIns="25400" rtlCol="0" anchor="t">
            <a:noAutofit/>
          </a:bodyPr>
          <a:lstStyle/>
          <a:p>
            <a:pPr marL="0" indent="0" algn="l">
              <a:buNone/>
            </a:pPr>
            <a:r>
              <a:rPr lang="en-US" sz="1600" dirty="0">
                <a:solidFill>
                  <a:srgbClr val="5C6B61"/>
                </a:solidFill>
                <a:latin typeface="Inter" pitchFamily="34" charset="0"/>
                <a:ea typeface="Inter" pitchFamily="34" charset="-122"/>
                <a:cs typeface="Inter" pitchFamily="34" charset="-120"/>
              </a:rPr>
              <a:t>Zero microbial reads in KrakenUniq after Hominidae removal: biologically interesting (mostly human DNA), but unusable here.</a:t>
            </a:r>
            <a:endParaRPr lang="en-US" sz="1600" dirty="0"/>
          </a:p>
        </p:txBody>
      </p:sp>
      <p:sp>
        <p:nvSpPr>
          <p:cNvPr id="16" name="Shape 14"/>
          <p:cNvSpPr/>
          <p:nvPr/>
        </p:nvSpPr>
        <p:spPr>
          <a:xfrm>
            <a:off x="9372586" y="5045557"/>
            <a:ext cx="7867663" cy="1515341"/>
          </a:xfrm>
          <a:prstGeom prst="rect">
            <a:avLst/>
          </a:prstGeom>
          <a:solidFill>
            <a:srgbClr val="FFFFFF"/>
          </a:solidFill>
          <a:ln w="8659">
            <a:solidFill>
              <a:srgbClr val="D7D2C5"/>
            </a:solidFill>
            <a:prstDash val="solid"/>
          </a:ln>
        </p:spPr>
        <p:txBody>
          <a:bodyPr/>
          <a:lstStyle/>
          <a:p>
            <a:endParaRPr lang="en-IT"/>
          </a:p>
        </p:txBody>
      </p:sp>
      <p:sp>
        <p:nvSpPr>
          <p:cNvPr id="17" name="Text 15"/>
          <p:cNvSpPr/>
          <p:nvPr/>
        </p:nvSpPr>
        <p:spPr>
          <a:xfrm>
            <a:off x="16791532" y="5263725"/>
            <a:ext cx="249585" cy="202623"/>
          </a:xfrm>
          <a:prstGeom prst="rect">
            <a:avLst/>
          </a:prstGeom>
          <a:noFill/>
          <a:ln/>
        </p:spPr>
        <p:txBody>
          <a:bodyPr wrap="square" lIns="25400" tIns="25400" rIns="25400" bIns="25400" rtlCol="0" anchor="t">
            <a:normAutofit/>
          </a:bodyPr>
          <a:lstStyle/>
          <a:p>
            <a:pPr marL="0" indent="0" algn="l">
              <a:buNone/>
            </a:pPr>
            <a:r>
              <a:rPr lang="en-US" sz="975" kern="0" spc="98" dirty="0">
                <a:solidFill>
                  <a:srgbClr val="4A6B4F"/>
                </a:solidFill>
                <a:latin typeface="JetBrains Mono" pitchFamily="34" charset="0"/>
                <a:ea typeface="JetBrains Mono" pitchFamily="34" charset="-122"/>
                <a:cs typeface="JetBrains Mono" pitchFamily="34" charset="-120"/>
              </a:rPr>
              <a:t>04</a:t>
            </a:r>
            <a:endParaRPr lang="en-US" sz="975" dirty="0"/>
          </a:p>
        </p:txBody>
      </p:sp>
      <p:sp>
        <p:nvSpPr>
          <p:cNvPr id="18" name="Text 16"/>
          <p:cNvSpPr/>
          <p:nvPr/>
        </p:nvSpPr>
        <p:spPr>
          <a:xfrm>
            <a:off x="9705081" y="5358975"/>
            <a:ext cx="6847252" cy="345498"/>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B2A22"/>
                </a:solidFill>
                <a:latin typeface="Fraunces" pitchFamily="34" charset="0"/>
                <a:ea typeface="Fraunces" pitchFamily="34" charset="-122"/>
                <a:cs typeface="Fraunces" pitchFamily="34" charset="-120"/>
              </a:rPr>
              <a:t>Row-normalization to relative abundance</a:t>
            </a:r>
            <a:endParaRPr lang="en-US" sz="1950" dirty="0"/>
          </a:p>
        </p:txBody>
      </p:sp>
      <p:sp>
        <p:nvSpPr>
          <p:cNvPr id="19" name="Text 17"/>
          <p:cNvSpPr/>
          <p:nvPr/>
        </p:nvSpPr>
        <p:spPr>
          <a:xfrm>
            <a:off x="9705081" y="5761623"/>
            <a:ext cx="7418752" cy="281028"/>
          </a:xfrm>
          <a:prstGeom prst="rect">
            <a:avLst/>
          </a:prstGeom>
          <a:noFill/>
          <a:ln/>
        </p:spPr>
        <p:txBody>
          <a:bodyPr wrap="square" lIns="25400" tIns="25400" rIns="25400" bIns="25400" rtlCol="0" anchor="t">
            <a:noAutofit/>
          </a:bodyPr>
          <a:lstStyle/>
          <a:p>
            <a:pPr marL="0" indent="0" algn="l">
              <a:buNone/>
            </a:pPr>
            <a:r>
              <a:rPr lang="en-US" sz="1600" dirty="0">
                <a:solidFill>
                  <a:srgbClr val="5C6B61"/>
                </a:solidFill>
                <a:latin typeface="Inter" pitchFamily="34" charset="0"/>
                <a:ea typeface="Inter" pitchFamily="34" charset="-122"/>
                <a:cs typeface="Inter" pitchFamily="34" charset="-120"/>
              </a:rPr>
              <a:t>Each sample rescaled to </a:t>
            </a:r>
            <a:r>
              <a:rPr lang="en-US" sz="1600" dirty="0">
                <a:solidFill>
                  <a:srgbClr val="5C6B61"/>
                </a:solidFill>
                <a:latin typeface="JetBrains Mono" pitchFamily="34" charset="0"/>
                <a:ea typeface="JetBrains Mono" pitchFamily="34" charset="-122"/>
                <a:cs typeface="JetBrains Mono" pitchFamily="34" charset="-120"/>
              </a:rPr>
              <a:t>rowSum = 1 </a:t>
            </a:r>
            <a:r>
              <a:rPr lang="en-US" sz="1600" dirty="0">
                <a:solidFill>
                  <a:srgbClr val="5C6B61"/>
                </a:solidFill>
                <a:latin typeface="Inter" pitchFamily="34" charset="0"/>
                <a:ea typeface="Inter" pitchFamily="34" charset="-122"/>
                <a:cs typeface="Inter" pitchFamily="34" charset="-120"/>
              </a:rPr>
              <a:t>before Bray-Curtis.</a:t>
            </a:r>
            <a:endParaRPr lang="en-US" sz="1600" dirty="0"/>
          </a:p>
        </p:txBody>
      </p:sp>
      <p:grpSp>
        <p:nvGrpSpPr>
          <p:cNvPr id="27" name="Group 26">
            <a:extLst>
              <a:ext uri="{FF2B5EF4-FFF2-40B4-BE49-F238E27FC236}">
                <a16:creationId xmlns:a16="http://schemas.microsoft.com/office/drawing/2014/main" id="{18F840C4-6356-4799-F2DD-B96EBF9789F6}"/>
              </a:ext>
            </a:extLst>
          </p:cNvPr>
          <p:cNvGrpSpPr/>
          <p:nvPr/>
        </p:nvGrpSpPr>
        <p:grpSpPr>
          <a:xfrm>
            <a:off x="3802305" y="7376227"/>
            <a:ext cx="10683390" cy="1187107"/>
            <a:chOff x="1047750" y="7344681"/>
            <a:chExt cx="10683390" cy="1187107"/>
          </a:xfrm>
        </p:grpSpPr>
        <p:sp>
          <p:nvSpPr>
            <p:cNvPr id="20" name="Shape 18"/>
            <p:cNvSpPr/>
            <p:nvPr/>
          </p:nvSpPr>
          <p:spPr>
            <a:xfrm>
              <a:off x="1047750" y="7344681"/>
              <a:ext cx="10683390" cy="1187107"/>
            </a:xfrm>
            <a:prstGeom prst="rect">
              <a:avLst/>
            </a:prstGeom>
            <a:solidFill>
              <a:srgbClr val="2F4632"/>
            </a:solidFill>
            <a:ln/>
          </p:spPr>
          <p:txBody>
            <a:bodyPr/>
            <a:lstStyle/>
            <a:p>
              <a:endParaRPr lang="en-IT"/>
            </a:p>
          </p:txBody>
        </p:sp>
        <p:sp>
          <p:nvSpPr>
            <p:cNvPr id="21" name="Text 19"/>
            <p:cNvSpPr/>
            <p:nvPr/>
          </p:nvSpPr>
          <p:spPr>
            <a:xfrm>
              <a:off x="1371586" y="7815242"/>
              <a:ext cx="2705723" cy="353351"/>
            </a:xfrm>
            <a:prstGeom prst="rect">
              <a:avLst/>
            </a:prstGeom>
            <a:noFill/>
            <a:ln/>
          </p:spPr>
          <p:txBody>
            <a:bodyPr wrap="square" lIns="25400" tIns="25400" rIns="25400" bIns="25400" rtlCol="0" anchor="t">
              <a:noAutofit/>
            </a:bodyPr>
            <a:lstStyle/>
            <a:p>
              <a:pPr marL="0" indent="0" algn="l">
                <a:buNone/>
              </a:pPr>
              <a:r>
                <a:rPr lang="en-US" sz="1400" kern="0" spc="168" dirty="0">
                  <a:solidFill>
                    <a:srgbClr val="8FA88F"/>
                  </a:solidFill>
                  <a:latin typeface="JetBrains Mono" pitchFamily="34" charset="0"/>
                  <a:ea typeface="JetBrains Mono" pitchFamily="34" charset="-122"/>
                  <a:cs typeface="JetBrains Mono" pitchFamily="34" charset="-120"/>
                </a:rPr>
                <a:t>FINAL ANALYSIS DATASET</a:t>
              </a:r>
              <a:endParaRPr lang="en-US" sz="1400" dirty="0"/>
            </a:p>
          </p:txBody>
        </p:sp>
        <p:sp>
          <p:nvSpPr>
            <p:cNvPr id="22" name="Text 20"/>
            <p:cNvSpPr/>
            <p:nvPr/>
          </p:nvSpPr>
          <p:spPr>
            <a:xfrm>
              <a:off x="4239227" y="7592303"/>
              <a:ext cx="7329995" cy="691861"/>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C49A3F"/>
                  </a:solidFill>
                  <a:latin typeface="Fraunces" pitchFamily="34" charset="0"/>
                  <a:ea typeface="Fraunces" pitchFamily="34" charset="-122"/>
                  <a:cs typeface="Fraunces" pitchFamily="34" charset="-120"/>
                </a:rPr>
                <a:t>245 </a:t>
              </a:r>
              <a:r>
                <a:rPr lang="en-US" sz="4200" i="1" kern="0" spc="-84" dirty="0">
                  <a:solidFill>
                    <a:srgbClr val="6F8276"/>
                  </a:solidFill>
                  <a:latin typeface="Fraunces" pitchFamily="34" charset="0"/>
                  <a:ea typeface="Fraunces" pitchFamily="34" charset="-122"/>
                  <a:cs typeface="Fraunces" pitchFamily="34" charset="-120"/>
                </a:rPr>
                <a:t>samples × </a:t>
              </a:r>
              <a:r>
                <a:rPr lang="en-US" sz="4200" kern="0" spc="-84" dirty="0">
                  <a:solidFill>
                    <a:srgbClr val="C49A3F"/>
                  </a:solidFill>
                  <a:latin typeface="Fraunces" pitchFamily="34" charset="0"/>
                  <a:ea typeface="Fraunces" pitchFamily="34" charset="-122"/>
                  <a:cs typeface="Fraunces" pitchFamily="34" charset="-120"/>
                </a:rPr>
                <a:t>362 </a:t>
              </a:r>
              <a:r>
                <a:rPr lang="en-US" sz="4200" i="1" kern="0" spc="-84" dirty="0">
                  <a:solidFill>
                    <a:srgbClr val="6F8276"/>
                  </a:solidFill>
                  <a:latin typeface="Fraunces" pitchFamily="34" charset="0"/>
                  <a:ea typeface="Fraunces" pitchFamily="34" charset="-122"/>
                  <a:cs typeface="Fraunces" pitchFamily="34" charset="-120"/>
                </a:rPr>
                <a:t>shared families</a:t>
              </a:r>
              <a:endParaRPr lang="en-US" sz="4200" dirty="0"/>
            </a:p>
          </p:txBody>
        </p:sp>
      </p:grpSp>
      <p:sp>
        <p:nvSpPr>
          <p:cNvPr id="23" name="Text 21"/>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dissolve">
                                      <p:cBhvr>
                                        <p:cTn id="38" dur="500"/>
                                        <p:tgtEl>
                                          <p:spTgt spid="13"/>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dissolve">
                                      <p:cBhvr>
                                        <p:cTn id="41" dur="500"/>
                                        <p:tgtEl>
                                          <p:spTgt spid="14"/>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dissolve">
                                      <p:cBhvr>
                                        <p:cTn id="52" dur="500"/>
                                        <p:tgtEl>
                                          <p:spTgt spid="1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dissolve">
                                      <p:cBhvr>
                                        <p:cTn id="55" dur="500"/>
                                        <p:tgtEl>
                                          <p:spTgt spid="1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dissolv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dissolve">
                                      <p:cBhvr>
                                        <p:cTn id="6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05 · Q2 · GLOBAL ECOLOGICAL AGREEMENT</a:t>
            </a:r>
            <a:endParaRPr lang="en-US" sz="1600" dirty="0"/>
          </a:p>
        </p:txBody>
      </p:sp>
      <p:sp>
        <p:nvSpPr>
          <p:cNvPr id="3" name="Text 1"/>
          <p:cNvSpPr/>
          <p:nvPr/>
        </p:nvSpPr>
        <p:spPr>
          <a:xfrm>
            <a:off x="1047750" y="1502487"/>
            <a:ext cx="16678275"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At the community level, the two tools </a:t>
            </a:r>
            <a:r>
              <a:rPr lang="en-US" sz="4200" i="1" kern="0" spc="-63" dirty="0">
                <a:solidFill>
                  <a:srgbClr val="1B2A22"/>
                </a:solidFill>
                <a:latin typeface="Fraunces" pitchFamily="34" charset="0"/>
                <a:ea typeface="Fraunces" pitchFamily="34" charset="-122"/>
                <a:cs typeface="Fraunces" pitchFamily="34" charset="-120"/>
              </a:rPr>
              <a:t>agree</a:t>
            </a:r>
            <a:endParaRPr lang="en-US" sz="4200" i="1" dirty="0"/>
          </a:p>
        </p:txBody>
      </p:sp>
      <p:sp>
        <p:nvSpPr>
          <p:cNvPr id="4" name="Text 2"/>
          <p:cNvSpPr/>
          <p:nvPr/>
        </p:nvSpPr>
        <p:spPr>
          <a:xfrm>
            <a:off x="1047750" y="2625925"/>
            <a:ext cx="3733800" cy="1411715"/>
          </a:xfrm>
          <a:prstGeom prst="rect">
            <a:avLst/>
          </a:prstGeom>
          <a:noFill/>
          <a:ln/>
        </p:spPr>
        <p:txBody>
          <a:bodyPr wrap="square" lIns="25400" tIns="25400" rIns="25400" bIns="25400" rtlCol="0" anchor="t">
            <a:normAutofit/>
          </a:bodyPr>
          <a:lstStyle/>
          <a:p>
            <a:pPr marL="0" indent="0" algn="l">
              <a:lnSpc>
                <a:spcPct val="92000"/>
              </a:lnSpc>
              <a:buNone/>
            </a:pPr>
            <a:r>
              <a:rPr lang="en-US" sz="9600" kern="0" spc="-660" dirty="0">
                <a:solidFill>
                  <a:srgbClr val="2F4632"/>
                </a:solidFill>
                <a:latin typeface="Fraunces" pitchFamily="34" charset="0"/>
                <a:ea typeface="Fraunces" pitchFamily="34" charset="-122"/>
                <a:cs typeface="Fraunces" pitchFamily="34" charset="-120"/>
              </a:rPr>
              <a:t>r = 0.945</a:t>
            </a:r>
            <a:endParaRPr lang="en-US" sz="9600" dirty="0"/>
          </a:p>
        </p:txBody>
      </p:sp>
      <p:sp>
        <p:nvSpPr>
          <p:cNvPr id="5" name="Text 3"/>
          <p:cNvSpPr/>
          <p:nvPr/>
        </p:nvSpPr>
        <p:spPr>
          <a:xfrm>
            <a:off x="1085836" y="4067019"/>
            <a:ext cx="5124464" cy="448267"/>
          </a:xfrm>
          <a:prstGeom prst="rect">
            <a:avLst/>
          </a:prstGeom>
          <a:noFill/>
          <a:ln/>
        </p:spPr>
        <p:txBody>
          <a:bodyPr wrap="square" lIns="25400" tIns="25400" rIns="25400" bIns="25400" rtlCol="0" anchor="t">
            <a:noAutofit/>
          </a:bodyPr>
          <a:lstStyle/>
          <a:p>
            <a:pPr marL="0" indent="0" algn="l">
              <a:buNone/>
            </a:pPr>
            <a:r>
              <a:rPr lang="en-US" sz="2400" kern="0" spc="168" dirty="0">
                <a:solidFill>
                  <a:srgbClr val="5C6B61"/>
                </a:solidFill>
                <a:latin typeface="JetBrains Mono" pitchFamily="34" charset="0"/>
                <a:ea typeface="JetBrains Mono" pitchFamily="34" charset="-122"/>
                <a:cs typeface="JetBrains Mono" pitchFamily="34" charset="-120"/>
              </a:rPr>
              <a:t>SPEARMAN, PC1 VS PC1 · P &lt; 0.001</a:t>
            </a:r>
            <a:endParaRPr lang="en-US" sz="2400" dirty="0"/>
          </a:p>
        </p:txBody>
      </p:sp>
      <p:sp>
        <p:nvSpPr>
          <p:cNvPr id="6" name="Shape 4"/>
          <p:cNvSpPr/>
          <p:nvPr/>
        </p:nvSpPr>
        <p:spPr>
          <a:xfrm>
            <a:off x="1047750" y="4951295"/>
            <a:ext cx="7903382" cy="9525"/>
          </a:xfrm>
          <a:prstGeom prst="rect">
            <a:avLst/>
          </a:prstGeom>
          <a:solidFill>
            <a:srgbClr val="D7D2C5"/>
          </a:solidFill>
          <a:ln/>
        </p:spPr>
        <p:txBody>
          <a:bodyPr/>
          <a:lstStyle/>
          <a:p>
            <a:endParaRPr lang="en-IT"/>
          </a:p>
        </p:txBody>
      </p:sp>
      <p:sp>
        <p:nvSpPr>
          <p:cNvPr id="7" name="Text 5"/>
          <p:cNvSpPr/>
          <p:nvPr/>
        </p:nvSpPr>
        <p:spPr>
          <a:xfrm>
            <a:off x="1047750" y="5188541"/>
            <a:ext cx="8140484" cy="202623"/>
          </a:xfrm>
          <a:prstGeom prst="rect">
            <a:avLst/>
          </a:prstGeom>
          <a:noFill/>
          <a:ln/>
        </p:spPr>
        <p:txBody>
          <a:bodyPr wrap="square" lIns="25400" tIns="25400" rIns="25400" bIns="25400" rtlCol="0" anchor="t">
            <a:noAutofit/>
          </a:bodyPr>
          <a:lstStyle/>
          <a:p>
            <a:pPr marL="0" indent="0" algn="l">
              <a:buNone/>
            </a:pPr>
            <a:r>
              <a:rPr lang="en-US" kern="0" spc="156" dirty="0">
                <a:solidFill>
                  <a:srgbClr val="5C6B61"/>
                </a:solidFill>
                <a:latin typeface="JetBrains Mono" pitchFamily="34" charset="0"/>
                <a:ea typeface="JetBrains Mono" pitchFamily="34" charset="-122"/>
                <a:cs typeface="JetBrains Mono" pitchFamily="34" charset="-120"/>
              </a:rPr>
              <a:t>PROCRUSTES (FULL BIVARIATE ALIGNMENT)</a:t>
            </a:r>
            <a:endParaRPr lang="en-US" dirty="0"/>
          </a:p>
        </p:txBody>
      </p:sp>
      <p:sp>
        <p:nvSpPr>
          <p:cNvPr id="8" name="Text 6"/>
          <p:cNvSpPr/>
          <p:nvPr/>
        </p:nvSpPr>
        <p:spPr>
          <a:xfrm>
            <a:off x="1047750" y="5595652"/>
            <a:ext cx="8140484" cy="557645"/>
          </a:xfrm>
          <a:prstGeom prst="rect">
            <a:avLst/>
          </a:prstGeom>
          <a:noFill/>
          <a:ln/>
        </p:spPr>
        <p:txBody>
          <a:bodyPr wrap="square" lIns="25400" tIns="25400" rIns="25400" bIns="25400" rtlCol="0" anchor="t">
            <a:normAutofit/>
          </a:bodyPr>
          <a:lstStyle/>
          <a:p>
            <a:pPr marL="0" indent="0" algn="l">
              <a:buNone/>
            </a:pPr>
            <a:r>
              <a:rPr lang="en-US" sz="3300" kern="0" spc="-66" dirty="0">
                <a:solidFill>
                  <a:srgbClr val="1B2A22"/>
                </a:solidFill>
                <a:latin typeface="Fraunces" pitchFamily="34" charset="0"/>
                <a:ea typeface="Fraunces" pitchFamily="34" charset="-122"/>
                <a:cs typeface="Fraunces" pitchFamily="34" charset="-120"/>
              </a:rPr>
              <a:t>r = 0.90 · p &lt; 0.001</a:t>
            </a:r>
            <a:endParaRPr lang="en-US" sz="3300" dirty="0"/>
          </a:p>
        </p:txBody>
      </p:sp>
      <p:sp>
        <p:nvSpPr>
          <p:cNvPr id="10" name="Text 8"/>
          <p:cNvSpPr/>
          <p:nvPr/>
        </p:nvSpPr>
        <p:spPr>
          <a:xfrm>
            <a:off x="1085836" y="6301179"/>
            <a:ext cx="7145536" cy="474544"/>
          </a:xfrm>
          <a:prstGeom prst="rect">
            <a:avLst/>
          </a:prstGeom>
          <a:noFill/>
          <a:ln/>
        </p:spPr>
        <p:txBody>
          <a:bodyPr wrap="square" lIns="25400" tIns="25400" rIns="25400" bIns="25400" rtlCol="0" anchor="t">
            <a:noAutofit/>
          </a:bodyPr>
          <a:lstStyle/>
          <a:p>
            <a:pPr marL="342900" indent="-342900" algn="l">
              <a:lnSpc>
                <a:spcPct val="145000"/>
              </a:lnSpc>
              <a:buFont typeface="Arial" panose="020B0604020202020204" pitchFamily="34" charset="0"/>
              <a:buChar char="•"/>
            </a:pPr>
            <a:r>
              <a:rPr lang="en-US" sz="2000" dirty="0">
                <a:solidFill>
                  <a:srgbClr val="2F4438"/>
                </a:solidFill>
                <a:latin typeface="Inter" pitchFamily="34" charset="0"/>
                <a:ea typeface="Inter" pitchFamily="34" charset="-122"/>
                <a:cs typeface="Inter" pitchFamily="34" charset="-120"/>
              </a:rPr>
              <a:t>The dominant biological gradient is the same in both ordinations.</a:t>
            </a:r>
            <a:endParaRPr lang="en-US" sz="2000" dirty="0"/>
          </a:p>
        </p:txBody>
      </p:sp>
      <p:sp>
        <p:nvSpPr>
          <p:cNvPr id="12" name="Text 10"/>
          <p:cNvSpPr/>
          <p:nvPr/>
        </p:nvSpPr>
        <p:spPr>
          <a:xfrm>
            <a:off x="1085836" y="6775723"/>
            <a:ext cx="6656438" cy="438219"/>
          </a:xfrm>
          <a:prstGeom prst="rect">
            <a:avLst/>
          </a:prstGeom>
          <a:noFill/>
          <a:ln/>
        </p:spPr>
        <p:txBody>
          <a:bodyPr wrap="square" lIns="25400" tIns="25400" rIns="25400" bIns="25400" rtlCol="0" anchor="t">
            <a:noAutofit/>
          </a:bodyPr>
          <a:lstStyle/>
          <a:p>
            <a:pPr marL="342900" indent="-342900" algn="l">
              <a:lnSpc>
                <a:spcPct val="145000"/>
              </a:lnSpc>
              <a:buFont typeface="Arial" panose="020B0604020202020204" pitchFamily="34" charset="0"/>
              <a:buChar char="•"/>
            </a:pPr>
            <a:r>
              <a:rPr lang="en-US" sz="2000" dirty="0">
                <a:solidFill>
                  <a:srgbClr val="2F4438"/>
                </a:solidFill>
                <a:latin typeface="Inter" pitchFamily="34" charset="0"/>
                <a:ea typeface="Inter" pitchFamily="34" charset="-122"/>
                <a:cs typeface="Inter" pitchFamily="34" charset="-120"/>
              </a:rPr>
              <a:t>Samples extreme in Kraken2 are also extreme in KrakenUniq.</a:t>
            </a:r>
            <a:endParaRPr lang="en-US" sz="2000" dirty="0"/>
          </a:p>
        </p:txBody>
      </p:sp>
      <p:grpSp>
        <p:nvGrpSpPr>
          <p:cNvPr id="20" name="Group 19">
            <a:extLst>
              <a:ext uri="{FF2B5EF4-FFF2-40B4-BE49-F238E27FC236}">
                <a16:creationId xmlns:a16="http://schemas.microsoft.com/office/drawing/2014/main" id="{B277EED1-BF98-78F4-79A3-7AA47E41A8CA}"/>
              </a:ext>
            </a:extLst>
          </p:cNvPr>
          <p:cNvGrpSpPr/>
          <p:nvPr/>
        </p:nvGrpSpPr>
        <p:grpSpPr>
          <a:xfrm>
            <a:off x="10075082" y="1860724"/>
            <a:ext cx="7527117" cy="7060879"/>
            <a:chOff x="9713132" y="2295268"/>
            <a:chExt cx="7527117" cy="7060879"/>
          </a:xfrm>
        </p:grpSpPr>
        <p:sp>
          <p:nvSpPr>
            <p:cNvPr id="15" name="Shape 13"/>
            <p:cNvSpPr/>
            <p:nvPr/>
          </p:nvSpPr>
          <p:spPr>
            <a:xfrm>
              <a:off x="9713132" y="2295268"/>
              <a:ext cx="7527117" cy="7060879"/>
            </a:xfrm>
            <a:prstGeom prst="rect">
              <a:avLst/>
            </a:prstGeom>
            <a:solidFill>
              <a:srgbClr val="FFFFFF"/>
            </a:solidFill>
            <a:ln w="8659">
              <a:solidFill>
                <a:srgbClr val="D7D2C5"/>
              </a:solidFill>
              <a:prstDash val="solid"/>
            </a:ln>
          </p:spPr>
          <p:txBody>
            <a:bodyPr/>
            <a:lstStyle/>
            <a:p>
              <a:endParaRPr lang="en-IT"/>
            </a:p>
          </p:txBody>
        </p:sp>
        <p:sp>
          <p:nvSpPr>
            <p:cNvPr id="17" name="Text 14"/>
            <p:cNvSpPr/>
            <p:nvPr/>
          </p:nvSpPr>
          <p:spPr>
            <a:xfrm>
              <a:off x="9844588" y="8954379"/>
              <a:ext cx="7264205" cy="202623"/>
            </a:xfrm>
            <a:prstGeom prst="rect">
              <a:avLst/>
            </a:prstGeom>
            <a:noFill/>
            <a:ln/>
          </p:spPr>
          <p:txBody>
            <a:bodyPr wrap="square" lIns="25400" tIns="25400" rIns="25400" bIns="25400" rtlCol="0" anchor="t">
              <a:normAutofit/>
            </a:bodyPr>
            <a:lstStyle/>
            <a:p>
              <a:pPr marL="0" indent="0" algn="ctr">
                <a:buNone/>
              </a:pPr>
              <a:r>
                <a:rPr lang="en-US" sz="975" kern="0" spc="59" dirty="0">
                  <a:solidFill>
                    <a:srgbClr val="5C6B61"/>
                  </a:solidFill>
                  <a:latin typeface="JetBrains Mono" pitchFamily="34" charset="0"/>
                  <a:ea typeface="JetBrains Mono" pitchFamily="34" charset="-122"/>
                  <a:cs typeface="JetBrains Mono" pitchFamily="34" charset="-120"/>
                </a:rPr>
                <a:t>Fig. 1 · KrakenUniq PC1 (x) vs Kraken2 PC1 (y) · 245 samples · red line = 1:1</a:t>
              </a:r>
              <a:endParaRPr lang="en-US" sz="975" dirty="0"/>
            </a:p>
          </p:txBody>
        </p:sp>
      </p:grpSp>
      <p:sp>
        <p:nvSpPr>
          <p:cNvPr id="18" name="Text 15"/>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pic>
        <p:nvPicPr>
          <p:cNvPr id="14" name="Picture 13">
            <a:extLst>
              <a:ext uri="{FF2B5EF4-FFF2-40B4-BE49-F238E27FC236}">
                <a16:creationId xmlns:a16="http://schemas.microsoft.com/office/drawing/2014/main" id="{947C5CCB-CF5C-0B1F-BB2E-AF5067BE84B6}"/>
              </a:ext>
            </a:extLst>
          </p:cNvPr>
          <p:cNvPicPr>
            <a:picLocks noChangeAspect="1"/>
          </p:cNvPicPr>
          <p:nvPr/>
        </p:nvPicPr>
        <p:blipFill>
          <a:blip r:embed="rId3"/>
          <a:srcRect l="2078" t="8470" r="4337" b="1586"/>
          <a:stretch>
            <a:fillRect/>
          </a:stretch>
        </p:blipFill>
        <p:spPr>
          <a:xfrm>
            <a:off x="10312184" y="2353298"/>
            <a:ext cx="6762819" cy="5814169"/>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06 · Q1 · PER-FAMILY AGREEMENT</a:t>
            </a:r>
            <a:endParaRPr lang="en-US" sz="1600" dirty="0"/>
          </a:p>
        </p:txBody>
      </p:sp>
      <p:sp>
        <p:nvSpPr>
          <p:cNvPr id="3" name="Text 1"/>
          <p:cNvSpPr/>
          <p:nvPr/>
        </p:nvSpPr>
        <p:spPr>
          <a:xfrm>
            <a:off x="1047750" y="1390251"/>
            <a:ext cx="16678275"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2A22"/>
                </a:solidFill>
                <a:latin typeface="Fraunces" pitchFamily="34" charset="0"/>
                <a:ea typeface="Fraunces" pitchFamily="34" charset="-122"/>
                <a:cs typeface="Fraunces" pitchFamily="34" charset="-120"/>
              </a:rPr>
              <a:t>At the family level, agreement is concentrated in a few taxa</a:t>
            </a:r>
            <a:endParaRPr lang="en-US" sz="4200" dirty="0"/>
          </a:p>
        </p:txBody>
      </p:sp>
      <p:sp>
        <p:nvSpPr>
          <p:cNvPr id="4" name="Text 2"/>
          <p:cNvSpPr/>
          <p:nvPr/>
        </p:nvSpPr>
        <p:spPr>
          <a:xfrm>
            <a:off x="1047750" y="2295268"/>
            <a:ext cx="7152022" cy="1615408"/>
          </a:xfrm>
          <a:prstGeom prst="rect">
            <a:avLst/>
          </a:prstGeom>
          <a:noFill/>
          <a:ln/>
        </p:spPr>
        <p:txBody>
          <a:bodyPr wrap="square" lIns="25400" tIns="25400" rIns="25400" bIns="25400" rtlCol="0" anchor="t">
            <a:normAutofit/>
          </a:bodyPr>
          <a:lstStyle/>
          <a:p>
            <a:pPr marL="0" indent="0" algn="l">
              <a:lnSpc>
                <a:spcPct val="92000"/>
              </a:lnSpc>
              <a:buNone/>
            </a:pPr>
            <a:r>
              <a:rPr lang="en-US" sz="9600" kern="0" spc="-540" dirty="0">
                <a:solidFill>
                  <a:srgbClr val="2F4632"/>
                </a:solidFill>
                <a:latin typeface="Fraunces" pitchFamily="34" charset="0"/>
                <a:ea typeface="Fraunces" pitchFamily="34" charset="-122"/>
                <a:cs typeface="Fraunces" pitchFamily="34" charset="-120"/>
              </a:rPr>
              <a:t>0.28</a:t>
            </a:r>
            <a:endParaRPr lang="en-US" sz="9600" dirty="0"/>
          </a:p>
        </p:txBody>
      </p:sp>
      <p:sp>
        <p:nvSpPr>
          <p:cNvPr id="5" name="Text 3"/>
          <p:cNvSpPr/>
          <p:nvPr/>
        </p:nvSpPr>
        <p:spPr>
          <a:xfrm>
            <a:off x="1060738" y="3560064"/>
            <a:ext cx="7629006" cy="350612"/>
          </a:xfrm>
          <a:prstGeom prst="rect">
            <a:avLst/>
          </a:prstGeom>
          <a:noFill/>
          <a:ln/>
        </p:spPr>
        <p:txBody>
          <a:bodyPr wrap="square" lIns="25400" tIns="25400" rIns="25400" bIns="25400" rtlCol="0" anchor="t">
            <a:noAutofit/>
          </a:bodyPr>
          <a:lstStyle/>
          <a:p>
            <a:pPr marL="0" indent="0" algn="l">
              <a:buNone/>
            </a:pPr>
            <a:r>
              <a:rPr lang="en-US" sz="2400" kern="0" spc="168" dirty="0">
                <a:solidFill>
                  <a:srgbClr val="5C6B61"/>
                </a:solidFill>
                <a:latin typeface="JetBrains Mono" pitchFamily="34" charset="0"/>
                <a:ea typeface="JetBrains Mono" pitchFamily="34" charset="-122"/>
                <a:cs typeface="JetBrains Mono" pitchFamily="34" charset="-120"/>
              </a:rPr>
              <a:t>MEDIAN SPEARMAN </a:t>
            </a:r>
            <a:r>
              <a:rPr lang="en-US" sz="2400" kern="0" spc="168" dirty="0" err="1">
                <a:solidFill>
                  <a:srgbClr val="5C6B61"/>
                </a:solidFill>
                <a:latin typeface="JetBrains Mono" pitchFamily="34" charset="0"/>
                <a:ea typeface="JetBrains Mono" pitchFamily="34" charset="-122"/>
                <a:cs typeface="JetBrains Mono" pitchFamily="34" charset="-120"/>
              </a:rPr>
              <a:t>Ρ</a:t>
            </a:r>
            <a:endParaRPr lang="en-US" sz="2400" kern="0" spc="168" dirty="0">
              <a:solidFill>
                <a:srgbClr val="5C6B61"/>
              </a:solidFill>
              <a:latin typeface="JetBrains Mono" pitchFamily="34" charset="0"/>
              <a:ea typeface="JetBrains Mono" pitchFamily="34" charset="-122"/>
              <a:cs typeface="JetBrains Mono" pitchFamily="34" charset="-120"/>
            </a:endParaRPr>
          </a:p>
          <a:p>
            <a:pPr marL="0" indent="0" algn="l">
              <a:buNone/>
            </a:pPr>
            <a:r>
              <a:rPr lang="en-US" sz="2400" kern="0" spc="168" dirty="0">
                <a:solidFill>
                  <a:srgbClr val="5C6B61"/>
                </a:solidFill>
                <a:latin typeface="JetBrains Mono" pitchFamily="34" charset="0"/>
                <a:ea typeface="JetBrains Mono" pitchFamily="34" charset="-122"/>
                <a:cs typeface="JetBrains Mono" pitchFamily="34" charset="-120"/>
              </a:rPr>
              <a:t>ACROSS 201 VALID FAMILIES</a:t>
            </a:r>
            <a:endParaRPr lang="en-US" sz="2400" dirty="0"/>
          </a:p>
        </p:txBody>
      </p:sp>
      <p:sp>
        <p:nvSpPr>
          <p:cNvPr id="6" name="Shape 4"/>
          <p:cNvSpPr/>
          <p:nvPr/>
        </p:nvSpPr>
        <p:spPr>
          <a:xfrm>
            <a:off x="1047750" y="4744031"/>
            <a:ext cx="6943711" cy="1692311"/>
          </a:xfrm>
          <a:prstGeom prst="rect">
            <a:avLst/>
          </a:prstGeom>
          <a:solidFill>
            <a:srgbClr val="2F4632"/>
          </a:solidFill>
          <a:ln/>
        </p:spPr>
        <p:txBody>
          <a:bodyPr/>
          <a:lstStyle/>
          <a:p>
            <a:endParaRPr lang="en-IT"/>
          </a:p>
        </p:txBody>
      </p:sp>
      <p:sp>
        <p:nvSpPr>
          <p:cNvPr id="7" name="Text 5"/>
          <p:cNvSpPr/>
          <p:nvPr/>
        </p:nvSpPr>
        <p:spPr>
          <a:xfrm>
            <a:off x="1352509" y="4946640"/>
            <a:ext cx="6524218" cy="202623"/>
          </a:xfrm>
          <a:prstGeom prst="rect">
            <a:avLst/>
          </a:prstGeom>
          <a:noFill/>
          <a:ln/>
        </p:spPr>
        <p:txBody>
          <a:bodyPr wrap="square" lIns="25400" tIns="25400" rIns="25400" bIns="25400" rtlCol="0" anchor="t">
            <a:noAutofit/>
          </a:bodyPr>
          <a:lstStyle/>
          <a:p>
            <a:pPr marL="0" indent="0" algn="l">
              <a:buNone/>
            </a:pPr>
            <a:r>
              <a:rPr lang="en-US" sz="1600" kern="0" spc="156" dirty="0">
                <a:solidFill>
                  <a:srgbClr val="8FA88F"/>
                </a:solidFill>
                <a:latin typeface="JetBrains Mono" pitchFamily="34" charset="0"/>
                <a:ea typeface="JetBrains Mono" pitchFamily="34" charset="-122"/>
                <a:cs typeface="JetBrains Mono" pitchFamily="34" charset="-120"/>
              </a:rPr>
              <a:t>19 FAMILIES WITH Ρ &gt; 0.8</a:t>
            </a:r>
            <a:endParaRPr lang="en-US" sz="1600" dirty="0"/>
          </a:p>
        </p:txBody>
      </p:sp>
      <p:sp>
        <p:nvSpPr>
          <p:cNvPr id="8" name="Text 6"/>
          <p:cNvSpPr/>
          <p:nvPr/>
        </p:nvSpPr>
        <p:spPr>
          <a:xfrm>
            <a:off x="1352509" y="5289487"/>
            <a:ext cx="6524218" cy="918283"/>
          </a:xfrm>
          <a:prstGeom prst="rect">
            <a:avLst/>
          </a:prstGeom>
          <a:noFill/>
          <a:ln/>
        </p:spPr>
        <p:txBody>
          <a:bodyPr wrap="square" lIns="25400" tIns="25400" rIns="25400" bIns="25400" rtlCol="0" anchor="t">
            <a:noAutofit/>
          </a:bodyPr>
          <a:lstStyle/>
          <a:p>
            <a:pPr marL="0" indent="0" algn="l">
              <a:buNone/>
            </a:pPr>
            <a:r>
              <a:rPr lang="en-US" i="1" dirty="0">
                <a:solidFill>
                  <a:srgbClr val="F5F2EA"/>
                </a:solidFill>
                <a:latin typeface="Fraunces" pitchFamily="34" charset="0"/>
                <a:ea typeface="Fraunces" pitchFamily="34" charset="-122"/>
                <a:cs typeface="Fraunces" pitchFamily="34" charset="-120"/>
              </a:rPr>
              <a:t>Burkholderiaceae · Gemmatimonadaceae · Rhodanobacteraceae · Steroidobacteraceae · Micromonosporaceae and others;</a:t>
            </a:r>
          </a:p>
          <a:p>
            <a:pPr marL="0" indent="0" algn="l">
              <a:buNone/>
            </a:pPr>
            <a:r>
              <a:rPr lang="en-US" i="1" dirty="0">
                <a:solidFill>
                  <a:srgbClr val="F5F2EA"/>
                </a:solidFill>
                <a:latin typeface="Fraunces" pitchFamily="34" charset="0"/>
                <a:ea typeface="Fraunces" pitchFamily="34" charset="-122"/>
                <a:cs typeface="Fraunces" pitchFamily="34" charset="-120"/>
              </a:rPr>
              <a:t>abundant environmental taxa.</a:t>
            </a:r>
            <a:endParaRPr lang="en-US" dirty="0"/>
          </a:p>
        </p:txBody>
      </p:sp>
      <p:grpSp>
        <p:nvGrpSpPr>
          <p:cNvPr id="18" name="Group 17">
            <a:extLst>
              <a:ext uri="{FF2B5EF4-FFF2-40B4-BE49-F238E27FC236}">
                <a16:creationId xmlns:a16="http://schemas.microsoft.com/office/drawing/2014/main" id="{D393A7C3-E691-84C9-BEA1-FC290F2A3CC7}"/>
              </a:ext>
            </a:extLst>
          </p:cNvPr>
          <p:cNvGrpSpPr/>
          <p:nvPr/>
        </p:nvGrpSpPr>
        <p:grpSpPr>
          <a:xfrm>
            <a:off x="8753461" y="2295268"/>
            <a:ext cx="8550505" cy="6119203"/>
            <a:chOff x="8753461" y="2295268"/>
            <a:chExt cx="8550505" cy="6119203"/>
          </a:xfrm>
        </p:grpSpPr>
        <p:sp>
          <p:nvSpPr>
            <p:cNvPr id="13" name="Shape 11"/>
            <p:cNvSpPr/>
            <p:nvPr/>
          </p:nvSpPr>
          <p:spPr>
            <a:xfrm>
              <a:off x="8753461" y="2295268"/>
              <a:ext cx="8486788" cy="6119203"/>
            </a:xfrm>
            <a:prstGeom prst="rect">
              <a:avLst/>
            </a:prstGeom>
            <a:solidFill>
              <a:srgbClr val="FFFFFF"/>
            </a:solidFill>
            <a:ln w="8659">
              <a:solidFill>
                <a:srgbClr val="D7D2C5"/>
              </a:solidFill>
              <a:prstDash val="solid"/>
            </a:ln>
          </p:spPr>
          <p:txBody>
            <a:bodyPr/>
            <a:lstStyle/>
            <a:p>
              <a:endParaRPr lang="en-IT"/>
            </a:p>
          </p:txBody>
        </p:sp>
        <p:sp>
          <p:nvSpPr>
            <p:cNvPr id="15" name="Text 12"/>
            <p:cNvSpPr/>
            <p:nvPr/>
          </p:nvSpPr>
          <p:spPr>
            <a:xfrm>
              <a:off x="8933543" y="7733109"/>
              <a:ext cx="8370423" cy="539380"/>
            </a:xfrm>
            <a:prstGeom prst="rect">
              <a:avLst/>
            </a:prstGeom>
            <a:noFill/>
            <a:ln/>
          </p:spPr>
          <p:txBody>
            <a:bodyPr wrap="square" lIns="25400" tIns="25400" rIns="25400" bIns="25400" rtlCol="0" anchor="t">
              <a:normAutofit/>
            </a:bodyPr>
            <a:lstStyle/>
            <a:p>
              <a:pPr marL="0" indent="0" algn="l">
                <a:lnSpc>
                  <a:spcPct val="135000"/>
                </a:lnSpc>
                <a:buNone/>
              </a:pPr>
              <a:r>
                <a:rPr lang="en-US" sz="975" kern="0" spc="39" dirty="0">
                  <a:solidFill>
                    <a:srgbClr val="2F4632"/>
                  </a:solidFill>
                  <a:latin typeface="JetBrains Mono" pitchFamily="34" charset="0"/>
                  <a:ea typeface="JetBrains Mono" pitchFamily="34" charset="-122"/>
                  <a:cs typeface="JetBrains Mono" pitchFamily="34" charset="-120"/>
                </a:rPr>
                <a:t>Fig. 2 · Per-family Spearman ρ across 201 valid families. How to read it → Bars on the right (ρ &gt; 0.6) are families where both tools agree clearly. The disagreement sits on the left and middle — concentrated on rare families with sparse counts.</a:t>
              </a:r>
              <a:endParaRPr lang="en-US" sz="975" dirty="0"/>
            </a:p>
          </p:txBody>
        </p:sp>
      </p:grpSp>
      <p:sp>
        <p:nvSpPr>
          <p:cNvPr id="16" name="Text 13"/>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pic>
        <p:nvPicPr>
          <p:cNvPr id="11" name="Picture 10">
            <a:extLst>
              <a:ext uri="{FF2B5EF4-FFF2-40B4-BE49-F238E27FC236}">
                <a16:creationId xmlns:a16="http://schemas.microsoft.com/office/drawing/2014/main" id="{EAB21F7E-4858-5982-E50E-BD1A1CEAC02E}"/>
              </a:ext>
            </a:extLst>
          </p:cNvPr>
          <p:cNvPicPr>
            <a:picLocks noChangeAspect="1"/>
          </p:cNvPicPr>
          <p:nvPr/>
        </p:nvPicPr>
        <p:blipFill>
          <a:blip r:embed="rId3"/>
          <a:srcRect l="2197" t="9882" r="5290" b="1596"/>
          <a:stretch>
            <a:fillRect/>
          </a:stretch>
        </p:blipFill>
        <p:spPr>
          <a:xfrm>
            <a:off x="10229504" y="2670419"/>
            <a:ext cx="5778500" cy="4946162"/>
          </a:xfrm>
          <a:prstGeom prst="rect">
            <a:avLst/>
          </a:prstGeom>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a:extLst>
            <a:ext uri="{FF2B5EF4-FFF2-40B4-BE49-F238E27FC236}">
              <a16:creationId xmlns:a16="http://schemas.microsoft.com/office/drawing/2014/main" id="{60359ACC-5F28-046F-3510-FB6DE217BA5F}"/>
            </a:ext>
          </a:extLst>
        </p:cNvPr>
        <p:cNvGrpSpPr/>
        <p:nvPr/>
      </p:nvGrpSpPr>
      <p:grpSpPr>
        <a:xfrm>
          <a:off x="0" y="0"/>
          <a:ext cx="0" cy="0"/>
          <a:chOff x="0" y="0"/>
          <a:chExt cx="0" cy="0"/>
        </a:xfrm>
      </p:grpSpPr>
      <p:sp>
        <p:nvSpPr>
          <p:cNvPr id="16" name="Text 13">
            <a:extLst>
              <a:ext uri="{FF2B5EF4-FFF2-40B4-BE49-F238E27FC236}">
                <a16:creationId xmlns:a16="http://schemas.microsoft.com/office/drawing/2014/main" id="{9BDB0CE9-BCC6-BAF6-198B-BF67D3945BFF}"/>
              </a:ext>
            </a:extLst>
          </p:cNvPr>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sp>
        <p:nvSpPr>
          <p:cNvPr id="9" name="Text 0">
            <a:extLst>
              <a:ext uri="{FF2B5EF4-FFF2-40B4-BE49-F238E27FC236}">
                <a16:creationId xmlns:a16="http://schemas.microsoft.com/office/drawing/2014/main" id="{70930F22-232A-C181-14B8-DD9903C4523D}"/>
              </a:ext>
            </a:extLst>
          </p:cNvPr>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07 · Q1 · PER-FAMILY AGREEMENT</a:t>
            </a:r>
            <a:endParaRPr lang="en-US" sz="1600" dirty="0"/>
          </a:p>
        </p:txBody>
      </p:sp>
      <p:pic>
        <p:nvPicPr>
          <p:cNvPr id="12" name="Picture 11">
            <a:extLst>
              <a:ext uri="{FF2B5EF4-FFF2-40B4-BE49-F238E27FC236}">
                <a16:creationId xmlns:a16="http://schemas.microsoft.com/office/drawing/2014/main" id="{47F1E6CA-12AD-0F79-226D-0DE1E81D2530}"/>
              </a:ext>
            </a:extLst>
          </p:cNvPr>
          <p:cNvPicPr>
            <a:picLocks noChangeAspect="1"/>
          </p:cNvPicPr>
          <p:nvPr/>
        </p:nvPicPr>
        <p:blipFill>
          <a:blip r:embed="rId3"/>
          <a:srcRect t="7268" r="28120" b="6386"/>
          <a:stretch>
            <a:fillRect/>
          </a:stretch>
        </p:blipFill>
        <p:spPr>
          <a:xfrm>
            <a:off x="7089775" y="479615"/>
            <a:ext cx="8680450" cy="9327770"/>
          </a:xfrm>
          <a:prstGeom prst="rect">
            <a:avLst/>
          </a:prstGeom>
        </p:spPr>
      </p:pic>
    </p:spTree>
    <p:extLst>
      <p:ext uri="{BB962C8B-B14F-4D97-AF65-F5344CB8AC3E}">
        <p14:creationId xmlns:p14="http://schemas.microsoft.com/office/powerpoint/2010/main" val="2090103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1047750" y="857250"/>
            <a:ext cx="16678275"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4A6B4F"/>
                </a:solidFill>
                <a:latin typeface="JetBrains Mono" pitchFamily="34" charset="0"/>
                <a:ea typeface="JetBrains Mono" pitchFamily="34" charset="-122"/>
                <a:cs typeface="JetBrains Mono" pitchFamily="34" charset="-120"/>
              </a:rPr>
              <a:t>08 · WHY · A NOMENCLATURE PROBLEM</a:t>
            </a:r>
            <a:endParaRPr lang="en-US" sz="1600" dirty="0"/>
          </a:p>
        </p:txBody>
      </p:sp>
      <p:sp>
        <p:nvSpPr>
          <p:cNvPr id="3" name="Text 1"/>
          <p:cNvSpPr/>
          <p:nvPr/>
        </p:nvSpPr>
        <p:spPr>
          <a:xfrm>
            <a:off x="1047750" y="1278569"/>
            <a:ext cx="8477249" cy="598167"/>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a:solidFill>
                  <a:srgbClr val="1B2A22"/>
                </a:solidFill>
                <a:latin typeface="Fraunces" pitchFamily="34" charset="0"/>
                <a:ea typeface="Fraunces" pitchFamily="34" charset="-122"/>
              </a:rPr>
              <a:t>Differences</a:t>
            </a:r>
            <a:endParaRPr lang="en-US" sz="4200" dirty="0"/>
          </a:p>
        </p:txBody>
      </p:sp>
      <p:sp>
        <p:nvSpPr>
          <p:cNvPr id="4" name="Text 2"/>
          <p:cNvSpPr/>
          <p:nvPr/>
        </p:nvSpPr>
        <p:spPr>
          <a:xfrm>
            <a:off x="1047749" y="2260186"/>
            <a:ext cx="4046765" cy="554020"/>
          </a:xfrm>
          <a:prstGeom prst="rect">
            <a:avLst/>
          </a:prstGeom>
          <a:noFill/>
          <a:ln/>
        </p:spPr>
        <p:txBody>
          <a:bodyPr wrap="square" lIns="25400" tIns="25400" rIns="25400" bIns="25400" rtlCol="0" anchor="t">
            <a:normAutofit/>
          </a:bodyPr>
          <a:lstStyle/>
          <a:p>
            <a:pPr marL="0" indent="0" algn="l">
              <a:buNone/>
            </a:pPr>
            <a:r>
              <a:rPr lang="en-US" sz="2800" dirty="0">
                <a:solidFill>
                  <a:srgbClr val="1B2A22"/>
                </a:solidFill>
                <a:latin typeface="Fraunces" pitchFamily="34" charset="0"/>
                <a:ea typeface="Fraunces" pitchFamily="34" charset="-122"/>
                <a:cs typeface="Fraunces" pitchFamily="34" charset="-120"/>
              </a:rPr>
              <a:t>Kraken2-only family names</a:t>
            </a:r>
            <a:endParaRPr lang="en-US" sz="2800" dirty="0"/>
          </a:p>
        </p:txBody>
      </p:sp>
      <p:sp>
        <p:nvSpPr>
          <p:cNvPr id="5" name="Text 3"/>
          <p:cNvSpPr/>
          <p:nvPr/>
        </p:nvSpPr>
        <p:spPr>
          <a:xfrm>
            <a:off x="16252342" y="2473038"/>
            <a:ext cx="762027" cy="341168"/>
          </a:xfrm>
          <a:prstGeom prst="rect">
            <a:avLst/>
          </a:prstGeom>
          <a:noFill/>
          <a:ln/>
        </p:spPr>
        <p:txBody>
          <a:bodyPr wrap="square" lIns="25400" tIns="25400" rIns="25400" bIns="25400" rtlCol="0" anchor="t">
            <a:normAutofit lnSpcReduction="10000"/>
          </a:bodyPr>
          <a:lstStyle/>
          <a:p>
            <a:pPr marL="0" indent="0" algn="l">
              <a:buNone/>
            </a:pPr>
            <a:r>
              <a:rPr lang="en-US" sz="2000" dirty="0">
                <a:solidFill>
                  <a:srgbClr val="2F4632"/>
                </a:solidFill>
                <a:latin typeface="JetBrains Mono" pitchFamily="34" charset="0"/>
                <a:ea typeface="JetBrains Mono" pitchFamily="34" charset="-122"/>
                <a:cs typeface="JetBrains Mono" pitchFamily="34" charset="-120"/>
              </a:rPr>
              <a:t>5,098</a:t>
            </a:r>
            <a:endParaRPr lang="en-US" sz="2000" dirty="0"/>
          </a:p>
        </p:txBody>
      </p:sp>
      <p:grpSp>
        <p:nvGrpSpPr>
          <p:cNvPr id="21" name="Group 20">
            <a:extLst>
              <a:ext uri="{FF2B5EF4-FFF2-40B4-BE49-F238E27FC236}">
                <a16:creationId xmlns:a16="http://schemas.microsoft.com/office/drawing/2014/main" id="{73D81131-F23E-C678-4A16-1623CD8EABC9}"/>
              </a:ext>
            </a:extLst>
          </p:cNvPr>
          <p:cNvGrpSpPr/>
          <p:nvPr/>
        </p:nvGrpSpPr>
        <p:grpSpPr>
          <a:xfrm>
            <a:off x="1047749" y="2962803"/>
            <a:ext cx="15966622" cy="234853"/>
            <a:chOff x="1047750" y="3216570"/>
            <a:chExt cx="7715250" cy="171423"/>
          </a:xfrm>
        </p:grpSpPr>
        <p:sp>
          <p:nvSpPr>
            <p:cNvPr id="6" name="Shape 4"/>
            <p:cNvSpPr/>
            <p:nvPr/>
          </p:nvSpPr>
          <p:spPr>
            <a:xfrm>
              <a:off x="1047750" y="3216570"/>
              <a:ext cx="7715250" cy="171423"/>
            </a:xfrm>
            <a:prstGeom prst="rect">
              <a:avLst/>
            </a:prstGeom>
            <a:solidFill>
              <a:srgbClr val="E9E4D7"/>
            </a:solidFill>
            <a:ln/>
          </p:spPr>
          <p:txBody>
            <a:bodyPr/>
            <a:lstStyle/>
            <a:p>
              <a:endParaRPr lang="en-IT"/>
            </a:p>
          </p:txBody>
        </p:sp>
        <p:sp>
          <p:nvSpPr>
            <p:cNvPr id="7" name="Shape 5"/>
            <p:cNvSpPr/>
            <p:nvPr/>
          </p:nvSpPr>
          <p:spPr>
            <a:xfrm>
              <a:off x="1047750" y="3216570"/>
              <a:ext cx="7715250" cy="171423"/>
            </a:xfrm>
            <a:prstGeom prst="rect">
              <a:avLst/>
            </a:prstGeom>
            <a:solidFill>
              <a:srgbClr val="C99A6F"/>
            </a:solidFill>
            <a:ln/>
          </p:spPr>
          <p:txBody>
            <a:bodyPr/>
            <a:lstStyle/>
            <a:p>
              <a:endParaRPr lang="en-IT"/>
            </a:p>
          </p:txBody>
        </p:sp>
      </p:grpSp>
      <p:sp>
        <p:nvSpPr>
          <p:cNvPr id="8" name="Text 6"/>
          <p:cNvSpPr/>
          <p:nvPr/>
        </p:nvSpPr>
        <p:spPr>
          <a:xfrm>
            <a:off x="1047749" y="3346253"/>
            <a:ext cx="7946708" cy="341168"/>
          </a:xfrm>
          <a:prstGeom prst="rect">
            <a:avLst/>
          </a:prstGeom>
          <a:noFill/>
          <a:ln/>
        </p:spPr>
        <p:txBody>
          <a:bodyPr wrap="square" lIns="25400" tIns="25400" rIns="25400" bIns="25400" rtlCol="0" anchor="t">
            <a:noAutofit/>
          </a:bodyPr>
          <a:lstStyle/>
          <a:p>
            <a:r>
              <a:rPr lang="en-GB" dirty="0">
                <a:solidFill>
                  <a:srgbClr val="5C6B61"/>
                </a:solidFill>
                <a:latin typeface="Inter" pitchFamily="34" charset="0"/>
                <a:ea typeface="Inter" pitchFamily="34" charset="-122"/>
                <a:cs typeface="Inter" pitchFamily="34" charset="-120"/>
              </a:rPr>
              <a:t>family</a:t>
            </a:r>
            <a:r>
              <a:rPr lang="en-GB" dirty="0"/>
              <a:t> </a:t>
            </a:r>
            <a:r>
              <a:rPr lang="en-GB" dirty="0">
                <a:solidFill>
                  <a:srgbClr val="5C6B61"/>
                </a:solidFill>
                <a:latin typeface="Inter" pitchFamily="34" charset="0"/>
                <a:ea typeface="Inter" pitchFamily="34" charset="-122"/>
                <a:cs typeface="Inter" pitchFamily="34" charset="-120"/>
              </a:rPr>
              <a:t>names</a:t>
            </a:r>
            <a:r>
              <a:rPr lang="en-GB" dirty="0"/>
              <a:t> </a:t>
            </a:r>
            <a:r>
              <a:rPr lang="en-GB" dirty="0">
                <a:solidFill>
                  <a:srgbClr val="5C6B61"/>
                </a:solidFill>
                <a:latin typeface="Inter" pitchFamily="34" charset="0"/>
                <a:ea typeface="Inter" pitchFamily="34" charset="-122"/>
                <a:cs typeface="Inter" pitchFamily="34" charset="-120"/>
              </a:rPr>
              <a:t>only in GTDB - mostly alphanumeric placeholders for unnamed clades</a:t>
            </a:r>
            <a:endParaRPr lang="en-US" dirty="0">
              <a:solidFill>
                <a:srgbClr val="5C6B61"/>
              </a:solidFill>
              <a:latin typeface="Inter" pitchFamily="34" charset="0"/>
              <a:ea typeface="Inter" pitchFamily="34" charset="-122"/>
              <a:cs typeface="Inter" pitchFamily="34" charset="-120"/>
            </a:endParaRPr>
          </a:p>
        </p:txBody>
      </p:sp>
      <p:sp>
        <p:nvSpPr>
          <p:cNvPr id="9" name="Text 7"/>
          <p:cNvSpPr/>
          <p:nvPr/>
        </p:nvSpPr>
        <p:spPr>
          <a:xfrm>
            <a:off x="1047749" y="4235809"/>
            <a:ext cx="4667250" cy="434888"/>
          </a:xfrm>
          <a:prstGeom prst="rect">
            <a:avLst/>
          </a:prstGeom>
          <a:noFill/>
          <a:ln/>
        </p:spPr>
        <p:txBody>
          <a:bodyPr wrap="square" lIns="25400" tIns="25400" rIns="25400" bIns="25400" rtlCol="0" anchor="t">
            <a:noAutofit/>
          </a:bodyPr>
          <a:lstStyle/>
          <a:p>
            <a:pPr marL="0" indent="0" algn="l">
              <a:buNone/>
            </a:pPr>
            <a:r>
              <a:rPr lang="en-US" sz="2800" dirty="0" err="1">
                <a:solidFill>
                  <a:srgbClr val="1B2A22"/>
                </a:solidFill>
                <a:latin typeface="Fraunces" pitchFamily="34" charset="0"/>
                <a:ea typeface="Fraunces" pitchFamily="34" charset="-122"/>
                <a:cs typeface="Fraunces" pitchFamily="34" charset="-120"/>
              </a:rPr>
              <a:t>KrakenUniq</a:t>
            </a:r>
            <a:r>
              <a:rPr lang="en-US" sz="2800" dirty="0">
                <a:solidFill>
                  <a:srgbClr val="1B2A22"/>
                </a:solidFill>
                <a:latin typeface="Fraunces" pitchFamily="34" charset="0"/>
                <a:ea typeface="Fraunces" pitchFamily="34" charset="-122"/>
                <a:cs typeface="Fraunces" pitchFamily="34" charset="-120"/>
              </a:rPr>
              <a:t>-only family names</a:t>
            </a:r>
            <a:endParaRPr lang="en-US" sz="2800" dirty="0"/>
          </a:p>
        </p:txBody>
      </p:sp>
      <p:sp>
        <p:nvSpPr>
          <p:cNvPr id="10" name="Text 8"/>
          <p:cNvSpPr/>
          <p:nvPr/>
        </p:nvSpPr>
        <p:spPr>
          <a:xfrm>
            <a:off x="16252343" y="4329529"/>
            <a:ext cx="762027" cy="341168"/>
          </a:xfrm>
          <a:prstGeom prst="rect">
            <a:avLst/>
          </a:prstGeom>
          <a:noFill/>
          <a:ln/>
        </p:spPr>
        <p:txBody>
          <a:bodyPr wrap="square" lIns="25400" tIns="25400" rIns="25400" bIns="25400" rtlCol="0" anchor="t">
            <a:normAutofit lnSpcReduction="10000"/>
          </a:bodyPr>
          <a:lstStyle/>
          <a:p>
            <a:pPr marL="0" indent="0" algn="l">
              <a:buNone/>
            </a:pPr>
            <a:r>
              <a:rPr lang="en-US" sz="2000" dirty="0">
                <a:solidFill>
                  <a:srgbClr val="2F4632"/>
                </a:solidFill>
                <a:latin typeface="JetBrains Mono" pitchFamily="34" charset="0"/>
                <a:ea typeface="JetBrains Mono" pitchFamily="34" charset="-122"/>
                <a:cs typeface="JetBrains Mono" pitchFamily="34" charset="-120"/>
              </a:rPr>
              <a:t>1,299</a:t>
            </a:r>
            <a:endParaRPr lang="en-US" sz="2000" dirty="0"/>
          </a:p>
        </p:txBody>
      </p:sp>
      <p:grpSp>
        <p:nvGrpSpPr>
          <p:cNvPr id="30" name="Group 29">
            <a:extLst>
              <a:ext uri="{FF2B5EF4-FFF2-40B4-BE49-F238E27FC236}">
                <a16:creationId xmlns:a16="http://schemas.microsoft.com/office/drawing/2014/main" id="{BEBB8D46-2EA5-962F-43A6-AB29CBF93086}"/>
              </a:ext>
            </a:extLst>
          </p:cNvPr>
          <p:cNvGrpSpPr/>
          <p:nvPr/>
        </p:nvGrpSpPr>
        <p:grpSpPr>
          <a:xfrm>
            <a:off x="1047749" y="4884511"/>
            <a:ext cx="15966000" cy="256329"/>
            <a:chOff x="1945821" y="6172483"/>
            <a:chExt cx="7715250" cy="171423"/>
          </a:xfrm>
        </p:grpSpPr>
        <p:sp>
          <p:nvSpPr>
            <p:cNvPr id="11" name="Shape 9"/>
            <p:cNvSpPr/>
            <p:nvPr/>
          </p:nvSpPr>
          <p:spPr>
            <a:xfrm>
              <a:off x="1945821" y="6172483"/>
              <a:ext cx="7715250" cy="171423"/>
            </a:xfrm>
            <a:prstGeom prst="rect">
              <a:avLst/>
            </a:prstGeom>
            <a:solidFill>
              <a:srgbClr val="E9E4D7"/>
            </a:solidFill>
            <a:ln/>
          </p:spPr>
          <p:txBody>
            <a:bodyPr/>
            <a:lstStyle/>
            <a:p>
              <a:endParaRPr lang="en-IT"/>
            </a:p>
          </p:txBody>
        </p:sp>
        <p:sp>
          <p:nvSpPr>
            <p:cNvPr id="12" name="Shape 10"/>
            <p:cNvSpPr/>
            <p:nvPr/>
          </p:nvSpPr>
          <p:spPr>
            <a:xfrm>
              <a:off x="1945821" y="6172483"/>
              <a:ext cx="1967373" cy="171423"/>
            </a:xfrm>
            <a:prstGeom prst="rect">
              <a:avLst/>
            </a:prstGeom>
            <a:solidFill>
              <a:srgbClr val="8FA8B0"/>
            </a:solidFill>
            <a:ln/>
          </p:spPr>
          <p:txBody>
            <a:bodyPr/>
            <a:lstStyle/>
            <a:p>
              <a:endParaRPr lang="en-IT"/>
            </a:p>
          </p:txBody>
        </p:sp>
      </p:grpSp>
      <p:sp>
        <p:nvSpPr>
          <p:cNvPr id="13" name="Text 11"/>
          <p:cNvSpPr/>
          <p:nvPr/>
        </p:nvSpPr>
        <p:spPr>
          <a:xfrm>
            <a:off x="1047749" y="5296492"/>
            <a:ext cx="10202636" cy="432715"/>
          </a:xfrm>
          <a:prstGeom prst="rect">
            <a:avLst/>
          </a:prstGeom>
          <a:noFill/>
          <a:ln/>
        </p:spPr>
        <p:txBody>
          <a:bodyPr wrap="square" lIns="25400" tIns="25400" rIns="25400" bIns="25400" rtlCol="0" anchor="t">
            <a:normAutofit/>
          </a:bodyPr>
          <a:lstStyle/>
          <a:p>
            <a:r>
              <a:rPr lang="en-GB" dirty="0">
                <a:solidFill>
                  <a:srgbClr val="5C6B61"/>
                </a:solidFill>
                <a:latin typeface="Inter" pitchFamily="34" charset="0"/>
                <a:ea typeface="Inter" pitchFamily="34" charset="-122"/>
                <a:cs typeface="Inter" pitchFamily="34" charset="-120"/>
              </a:rPr>
              <a:t>family</a:t>
            </a:r>
            <a:r>
              <a:rPr lang="en-GB" dirty="0"/>
              <a:t> </a:t>
            </a:r>
            <a:r>
              <a:rPr lang="en-GB" dirty="0">
                <a:solidFill>
                  <a:srgbClr val="5C6B61"/>
                </a:solidFill>
                <a:latin typeface="Inter" pitchFamily="34" charset="0"/>
                <a:ea typeface="Inter" pitchFamily="34" charset="-122"/>
                <a:cs typeface="Inter" pitchFamily="34" charset="-120"/>
              </a:rPr>
              <a:t>names</a:t>
            </a:r>
            <a:r>
              <a:rPr lang="en-GB" dirty="0"/>
              <a:t> </a:t>
            </a:r>
            <a:r>
              <a:rPr lang="en-GB" dirty="0">
                <a:solidFill>
                  <a:srgbClr val="5C6B61"/>
                </a:solidFill>
                <a:latin typeface="Inter" pitchFamily="34" charset="0"/>
                <a:ea typeface="Inter" pitchFamily="34" charset="-122"/>
                <a:cs typeface="Inter" pitchFamily="34" charset="-120"/>
              </a:rPr>
              <a:t>only in </a:t>
            </a:r>
            <a:r>
              <a:rPr lang="en-GB" dirty="0" err="1">
                <a:solidFill>
                  <a:srgbClr val="5C6B61"/>
                </a:solidFill>
                <a:latin typeface="Inter" pitchFamily="34" charset="0"/>
                <a:ea typeface="Inter" pitchFamily="34" charset="-122"/>
                <a:cs typeface="Inter" pitchFamily="34" charset="-120"/>
              </a:rPr>
              <a:t>MicrobialNT</a:t>
            </a:r>
            <a:r>
              <a:rPr lang="en-GB" dirty="0">
                <a:solidFill>
                  <a:srgbClr val="5C6B61"/>
                </a:solidFill>
                <a:latin typeface="Inter" pitchFamily="34" charset="0"/>
                <a:ea typeface="Inter" pitchFamily="34" charset="-122"/>
                <a:cs typeface="Inter" pitchFamily="34" charset="-120"/>
              </a:rPr>
              <a:t> - mostly eukaryotes, fungi, viruses not covered by GTDB</a:t>
            </a:r>
            <a:endParaRPr lang="en-US" dirty="0">
              <a:solidFill>
                <a:srgbClr val="5C6B61"/>
              </a:solidFill>
              <a:latin typeface="Inter" pitchFamily="34" charset="0"/>
              <a:ea typeface="Inter" pitchFamily="34" charset="-122"/>
              <a:cs typeface="Inter" pitchFamily="34" charset="-120"/>
            </a:endParaRPr>
          </a:p>
        </p:txBody>
      </p:sp>
      <p:sp>
        <p:nvSpPr>
          <p:cNvPr id="14" name="Text 12"/>
          <p:cNvSpPr/>
          <p:nvPr/>
        </p:nvSpPr>
        <p:spPr>
          <a:xfrm>
            <a:off x="1047749" y="6294127"/>
            <a:ext cx="3597948" cy="573788"/>
          </a:xfrm>
          <a:prstGeom prst="rect">
            <a:avLst/>
          </a:prstGeom>
          <a:noFill/>
          <a:ln/>
        </p:spPr>
        <p:txBody>
          <a:bodyPr wrap="square" lIns="25400" tIns="25400" rIns="25400" bIns="25400" rtlCol="0" anchor="t">
            <a:noAutofit/>
          </a:bodyPr>
          <a:lstStyle/>
          <a:p>
            <a:pPr marL="0" indent="0" algn="l">
              <a:buNone/>
            </a:pPr>
            <a:r>
              <a:rPr lang="en-US" sz="2800" dirty="0">
                <a:solidFill>
                  <a:srgbClr val="2F4632"/>
                </a:solidFill>
                <a:latin typeface="Fraunces" pitchFamily="34" charset="0"/>
                <a:ea typeface="Fraunces" pitchFamily="34" charset="-122"/>
                <a:cs typeface="Fraunces" pitchFamily="34" charset="-120"/>
              </a:rPr>
              <a:t>Shared by exact name</a:t>
            </a:r>
            <a:endParaRPr lang="en-US" sz="2800" dirty="0"/>
          </a:p>
        </p:txBody>
      </p:sp>
      <p:sp>
        <p:nvSpPr>
          <p:cNvPr id="15" name="Text 13"/>
          <p:cNvSpPr/>
          <p:nvPr/>
        </p:nvSpPr>
        <p:spPr>
          <a:xfrm>
            <a:off x="16526039" y="6411525"/>
            <a:ext cx="487710" cy="341168"/>
          </a:xfrm>
          <a:prstGeom prst="rect">
            <a:avLst/>
          </a:prstGeom>
          <a:noFill/>
          <a:ln/>
        </p:spPr>
        <p:txBody>
          <a:bodyPr wrap="square" lIns="25400" tIns="25400" rIns="25400" bIns="25400" rtlCol="0" anchor="t">
            <a:normAutofit lnSpcReduction="10000"/>
          </a:bodyPr>
          <a:lstStyle/>
          <a:p>
            <a:pPr marL="0" indent="0" algn="l">
              <a:buNone/>
            </a:pPr>
            <a:r>
              <a:rPr lang="en-US" sz="2000" dirty="0">
                <a:solidFill>
                  <a:srgbClr val="2F4632"/>
                </a:solidFill>
                <a:latin typeface="JetBrains Mono" pitchFamily="34" charset="0"/>
                <a:ea typeface="JetBrains Mono" pitchFamily="34" charset="-122"/>
                <a:cs typeface="JetBrains Mono" pitchFamily="34" charset="-120"/>
              </a:rPr>
              <a:t>362</a:t>
            </a:r>
            <a:endParaRPr lang="en-US" sz="2000" dirty="0"/>
          </a:p>
        </p:txBody>
      </p:sp>
      <p:grpSp>
        <p:nvGrpSpPr>
          <p:cNvPr id="31" name="Group 30">
            <a:extLst>
              <a:ext uri="{FF2B5EF4-FFF2-40B4-BE49-F238E27FC236}">
                <a16:creationId xmlns:a16="http://schemas.microsoft.com/office/drawing/2014/main" id="{166CE2B7-D2AC-6919-D40E-A74793220189}"/>
              </a:ext>
            </a:extLst>
          </p:cNvPr>
          <p:cNvGrpSpPr/>
          <p:nvPr/>
        </p:nvGrpSpPr>
        <p:grpSpPr>
          <a:xfrm>
            <a:off x="1047749" y="6879649"/>
            <a:ext cx="15966000" cy="255600"/>
            <a:chOff x="3015123" y="7413129"/>
            <a:chExt cx="7715250" cy="171423"/>
          </a:xfrm>
        </p:grpSpPr>
        <p:sp>
          <p:nvSpPr>
            <p:cNvPr id="16" name="Shape 14"/>
            <p:cNvSpPr/>
            <p:nvPr/>
          </p:nvSpPr>
          <p:spPr>
            <a:xfrm>
              <a:off x="3015123" y="7413129"/>
              <a:ext cx="7715250" cy="171423"/>
            </a:xfrm>
            <a:prstGeom prst="rect">
              <a:avLst/>
            </a:prstGeom>
            <a:solidFill>
              <a:srgbClr val="E9E4D7"/>
            </a:solidFill>
            <a:ln/>
          </p:spPr>
          <p:txBody>
            <a:bodyPr/>
            <a:lstStyle/>
            <a:p>
              <a:endParaRPr lang="en-IT"/>
            </a:p>
          </p:txBody>
        </p:sp>
        <p:sp>
          <p:nvSpPr>
            <p:cNvPr id="17" name="Shape 15"/>
            <p:cNvSpPr/>
            <p:nvPr/>
          </p:nvSpPr>
          <p:spPr>
            <a:xfrm>
              <a:off x="3015123" y="7413129"/>
              <a:ext cx="547755" cy="171423"/>
            </a:xfrm>
            <a:prstGeom prst="rect">
              <a:avLst/>
            </a:prstGeom>
            <a:solidFill>
              <a:srgbClr val="2F4632"/>
            </a:solidFill>
            <a:ln/>
          </p:spPr>
          <p:txBody>
            <a:bodyPr/>
            <a:lstStyle/>
            <a:p>
              <a:endParaRPr lang="en-IT"/>
            </a:p>
          </p:txBody>
        </p:sp>
      </p:grpSp>
      <p:sp>
        <p:nvSpPr>
          <p:cNvPr id="18" name="Text 16"/>
          <p:cNvSpPr/>
          <p:nvPr/>
        </p:nvSpPr>
        <p:spPr>
          <a:xfrm>
            <a:off x="1047749" y="7262205"/>
            <a:ext cx="9019034" cy="644694"/>
          </a:xfrm>
          <a:prstGeom prst="rect">
            <a:avLst/>
          </a:prstGeom>
          <a:noFill/>
          <a:ln/>
        </p:spPr>
        <p:txBody>
          <a:bodyPr wrap="square" lIns="25400" tIns="25400" rIns="25400" bIns="25400" rtlCol="0" anchor="t">
            <a:normAutofit/>
          </a:bodyPr>
          <a:lstStyle/>
          <a:p>
            <a:r>
              <a:rPr lang="en-GB" dirty="0">
                <a:solidFill>
                  <a:srgbClr val="5C6B61"/>
                </a:solidFill>
                <a:latin typeface="Inter" pitchFamily="34" charset="0"/>
                <a:ea typeface="Inter" pitchFamily="34" charset="-122"/>
                <a:cs typeface="Inter" pitchFamily="34" charset="-120"/>
              </a:rPr>
              <a:t>family</a:t>
            </a:r>
            <a:r>
              <a:rPr lang="en-GB" dirty="0"/>
              <a:t> </a:t>
            </a:r>
            <a:r>
              <a:rPr lang="en-GB" dirty="0">
                <a:solidFill>
                  <a:srgbClr val="5C6B61"/>
                </a:solidFill>
                <a:latin typeface="Inter" pitchFamily="34" charset="0"/>
                <a:ea typeface="Inter" pitchFamily="34" charset="-122"/>
                <a:cs typeface="Inter" pitchFamily="34" charset="-120"/>
              </a:rPr>
              <a:t>names</a:t>
            </a:r>
            <a:r>
              <a:rPr lang="en-GB" dirty="0"/>
              <a:t> </a:t>
            </a:r>
            <a:r>
              <a:rPr lang="en-GB" dirty="0">
                <a:solidFill>
                  <a:srgbClr val="5C6B61"/>
                </a:solidFill>
                <a:latin typeface="Inter" pitchFamily="34" charset="0"/>
                <a:ea typeface="Inter" pitchFamily="34" charset="-122"/>
                <a:cs typeface="Inter" pitchFamily="34" charset="-120"/>
              </a:rPr>
              <a:t>shared by both databases - the only ones directly comparable in this analysis</a:t>
            </a:r>
            <a:endParaRPr lang="en-US" dirty="0"/>
          </a:p>
        </p:txBody>
      </p:sp>
      <p:sp>
        <p:nvSpPr>
          <p:cNvPr id="25" name="Text 22"/>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5C6B61"/>
                </a:solidFill>
                <a:latin typeface="JetBrains Mono" pitchFamily="34" charset="0"/>
                <a:ea typeface="JetBrains Mono" pitchFamily="34" charset="-122"/>
                <a:cs typeface="JetBrains Mono" pitchFamily="34" charset="-120"/>
              </a:rPr>
              <a:t>Mariagiulia Martinelli · CPG 2026</a:t>
            </a:r>
            <a:endParaRPr lang="en-US" sz="12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par>
                                <p:cTn id="11" presetID="22" presetClass="entr" presetSubtype="8"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500"/>
                                        <p:tgtEl>
                                          <p:spTgt spid="21"/>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up)">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up)">
                                      <p:cBhvr>
                                        <p:cTn id="38" dur="500"/>
                                        <p:tgtEl>
                                          <p:spTgt spid="15"/>
                                        </p:tgtEl>
                                      </p:cBhvr>
                                    </p:animEffect>
                                  </p:childTnLst>
                                </p:cTn>
                              </p:par>
                              <p:par>
                                <p:cTn id="39" presetID="22" presetClass="entr" presetSubtype="8"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left)">
                                      <p:cBhvr>
                                        <p:cTn id="41" dur="500"/>
                                        <p:tgtEl>
                                          <p:spTgt spid="31"/>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up)">
                                      <p:cBhvr>
                                        <p:cTn id="4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3" grpId="0" animBg="1"/>
      <p:bldP spid="14" grpId="0" animBg="1"/>
      <p:bldP spid="15"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B2A22"/>
        </a:solidFill>
        <a:effectLst/>
      </p:bgPr>
    </p:bg>
    <p:spTree>
      <p:nvGrpSpPr>
        <p:cNvPr id="1" name=""/>
        <p:cNvGrpSpPr/>
        <p:nvPr/>
      </p:nvGrpSpPr>
      <p:grpSpPr>
        <a:xfrm>
          <a:off x="0" y="0"/>
          <a:ext cx="0" cy="0"/>
          <a:chOff x="0" y="0"/>
          <a:chExt cx="0" cy="0"/>
        </a:xfrm>
      </p:grpSpPr>
      <p:sp>
        <p:nvSpPr>
          <p:cNvPr id="2" name="Text 0"/>
          <p:cNvSpPr/>
          <p:nvPr/>
        </p:nvSpPr>
        <p:spPr>
          <a:xfrm>
            <a:off x="1047750" y="857250"/>
            <a:ext cx="3809539" cy="211282"/>
          </a:xfrm>
          <a:prstGeom prst="rect">
            <a:avLst/>
          </a:prstGeom>
          <a:noFill/>
          <a:ln/>
        </p:spPr>
        <p:txBody>
          <a:bodyPr wrap="square" lIns="25400" tIns="25400" rIns="25400" bIns="25400" rtlCol="0" anchor="t">
            <a:noAutofit/>
          </a:bodyPr>
          <a:lstStyle/>
          <a:p>
            <a:pPr marL="0" indent="0" algn="l">
              <a:buNone/>
            </a:pPr>
            <a:r>
              <a:rPr lang="en-US" sz="1600" kern="0" spc="189" dirty="0">
                <a:solidFill>
                  <a:srgbClr val="8FA88F"/>
                </a:solidFill>
                <a:latin typeface="JetBrains Mono" pitchFamily="34" charset="0"/>
                <a:ea typeface="JetBrains Mono" pitchFamily="34" charset="-122"/>
                <a:cs typeface="JetBrains Mono" pitchFamily="34" charset="-120"/>
              </a:rPr>
              <a:t>09 · TAKE-HOME &amp; NEXT STEPS</a:t>
            </a:r>
            <a:endParaRPr lang="en-US" sz="1600" dirty="0"/>
          </a:p>
        </p:txBody>
      </p:sp>
      <p:sp>
        <p:nvSpPr>
          <p:cNvPr id="3" name="Text 1"/>
          <p:cNvSpPr/>
          <p:nvPr/>
        </p:nvSpPr>
        <p:spPr>
          <a:xfrm>
            <a:off x="1047750" y="1470090"/>
            <a:ext cx="3809539" cy="762014"/>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42" dirty="0">
                <a:solidFill>
                  <a:srgbClr val="F2EFE5"/>
                </a:solidFill>
                <a:latin typeface="Fraunces" pitchFamily="34" charset="0"/>
                <a:ea typeface="Fraunces" pitchFamily="34" charset="-122"/>
                <a:cs typeface="Fraunces" pitchFamily="34" charset="-120"/>
              </a:rPr>
              <a:t>What I </a:t>
            </a:r>
            <a:r>
              <a:rPr lang="en-US" sz="5700" i="1" kern="0" spc="-142" dirty="0">
                <a:solidFill>
                  <a:srgbClr val="C49A3F"/>
                </a:solidFill>
                <a:latin typeface="Fraunces" pitchFamily="34" charset="0"/>
                <a:ea typeface="Fraunces" pitchFamily="34" charset="-122"/>
                <a:cs typeface="Fraunces" pitchFamily="34" charset="-120"/>
              </a:rPr>
              <a:t>found.</a:t>
            </a:r>
            <a:endParaRPr lang="en-US" sz="5700" dirty="0"/>
          </a:p>
        </p:txBody>
      </p:sp>
      <p:sp>
        <p:nvSpPr>
          <p:cNvPr id="5" name="Text 3"/>
          <p:cNvSpPr/>
          <p:nvPr/>
        </p:nvSpPr>
        <p:spPr>
          <a:xfrm>
            <a:off x="1047750" y="2633662"/>
            <a:ext cx="1266042" cy="1478101"/>
          </a:xfrm>
          <a:prstGeom prst="rect">
            <a:avLst/>
          </a:prstGeom>
          <a:noFill/>
          <a:ln/>
        </p:spPr>
        <p:txBody>
          <a:bodyPr wrap="square" lIns="25400" tIns="25400" rIns="25400" bIns="25400" rtlCol="0" anchor="t">
            <a:noAutofit/>
          </a:bodyPr>
          <a:lstStyle/>
          <a:p>
            <a:pPr marL="0" indent="0" algn="l">
              <a:lnSpc>
                <a:spcPct val="100000"/>
              </a:lnSpc>
              <a:buNone/>
            </a:pPr>
            <a:r>
              <a:rPr lang="en-US" sz="9600" kern="0" spc="-330" dirty="0">
                <a:solidFill>
                  <a:srgbClr val="C49A3F"/>
                </a:solidFill>
                <a:latin typeface="Fraunces" pitchFamily="34" charset="0"/>
                <a:ea typeface="Fraunces" pitchFamily="34" charset="-122"/>
                <a:cs typeface="Fraunces" pitchFamily="34" charset="-120"/>
              </a:rPr>
              <a:t>01</a:t>
            </a:r>
            <a:endParaRPr lang="en-US" sz="9600" dirty="0"/>
          </a:p>
        </p:txBody>
      </p:sp>
      <p:sp>
        <p:nvSpPr>
          <p:cNvPr id="6" name="Text 4"/>
          <p:cNvSpPr/>
          <p:nvPr/>
        </p:nvSpPr>
        <p:spPr>
          <a:xfrm>
            <a:off x="1047750" y="4154605"/>
            <a:ext cx="1791091" cy="259786"/>
          </a:xfrm>
          <a:prstGeom prst="rect">
            <a:avLst/>
          </a:prstGeom>
          <a:noFill/>
          <a:ln/>
        </p:spPr>
        <p:txBody>
          <a:bodyPr wrap="square" lIns="25400" tIns="25400" rIns="25400" bIns="25400" rtlCol="0" anchor="t">
            <a:noAutofit/>
          </a:bodyPr>
          <a:lstStyle/>
          <a:p>
            <a:pPr marL="0" indent="0" algn="l">
              <a:buNone/>
            </a:pPr>
            <a:r>
              <a:rPr lang="en-US" sz="1600" kern="0" spc="176" dirty="0">
                <a:solidFill>
                  <a:srgbClr val="8FA88F"/>
                </a:solidFill>
                <a:latin typeface="JetBrains Mono" pitchFamily="34" charset="0"/>
                <a:ea typeface="JetBrains Mono" pitchFamily="34" charset="-122"/>
                <a:cs typeface="JetBrains Mono" pitchFamily="34" charset="-120"/>
              </a:rPr>
              <a:t>GLOBALLY</a:t>
            </a:r>
            <a:endParaRPr lang="en-US" sz="1600" dirty="0"/>
          </a:p>
        </p:txBody>
      </p:sp>
      <p:sp>
        <p:nvSpPr>
          <p:cNvPr id="7" name="Text 5"/>
          <p:cNvSpPr/>
          <p:nvPr/>
        </p:nvSpPr>
        <p:spPr>
          <a:xfrm>
            <a:off x="1047750" y="4509627"/>
            <a:ext cx="4133459" cy="633873"/>
          </a:xfrm>
          <a:prstGeom prst="rect">
            <a:avLst/>
          </a:prstGeom>
          <a:noFill/>
          <a:ln/>
        </p:spPr>
        <p:txBody>
          <a:bodyPr wrap="square" lIns="25400" tIns="25400" rIns="25400" bIns="25400" rtlCol="0" anchor="t">
            <a:noAutofit/>
          </a:bodyPr>
          <a:lstStyle/>
          <a:p>
            <a:pPr marL="0" indent="0" algn="l">
              <a:lnSpc>
                <a:spcPct val="115000"/>
              </a:lnSpc>
              <a:buNone/>
            </a:pPr>
            <a:r>
              <a:rPr lang="en-US" sz="3600" kern="0" spc="-27" dirty="0">
                <a:solidFill>
                  <a:srgbClr val="F2EFE5"/>
                </a:solidFill>
                <a:latin typeface="Fraunces" pitchFamily="34" charset="0"/>
                <a:ea typeface="Fraunces" pitchFamily="34" charset="-122"/>
                <a:cs typeface="Fraunces" pitchFamily="34" charset="-120"/>
              </a:rPr>
              <a:t>Same biological </a:t>
            </a:r>
            <a:r>
              <a:rPr lang="en-US" sz="3600" i="1" kern="0" spc="-27" dirty="0">
                <a:solidFill>
                  <a:srgbClr val="C49A3F"/>
                </a:solidFill>
                <a:latin typeface="Fraunces" pitchFamily="34" charset="0"/>
                <a:ea typeface="Fraunces" pitchFamily="34" charset="-122"/>
                <a:cs typeface="Fraunces" pitchFamily="34" charset="-120"/>
              </a:rPr>
              <a:t>story</a:t>
            </a:r>
            <a:endParaRPr lang="en-US" sz="3600" dirty="0"/>
          </a:p>
        </p:txBody>
      </p:sp>
      <p:sp>
        <p:nvSpPr>
          <p:cNvPr id="8" name="Text 6"/>
          <p:cNvSpPr/>
          <p:nvPr/>
        </p:nvSpPr>
        <p:spPr>
          <a:xfrm>
            <a:off x="1047749" y="5187781"/>
            <a:ext cx="5028329" cy="580917"/>
          </a:xfrm>
          <a:prstGeom prst="rect">
            <a:avLst/>
          </a:prstGeom>
          <a:noFill/>
          <a:ln/>
        </p:spPr>
        <p:txBody>
          <a:bodyPr wrap="square" lIns="25400" tIns="25400" rIns="25400" bIns="25400" rtlCol="0" anchor="t">
            <a:noAutofit/>
          </a:bodyPr>
          <a:lstStyle/>
          <a:p>
            <a:pPr marL="0" indent="0" algn="l">
              <a:buNone/>
            </a:pPr>
            <a:r>
              <a:rPr lang="en-US" dirty="0">
                <a:solidFill>
                  <a:srgbClr val="C9D2CC"/>
                </a:solidFill>
                <a:latin typeface="Inter" pitchFamily="34" charset="0"/>
                <a:ea typeface="Inter" pitchFamily="34" charset="-122"/>
                <a:cs typeface="Inter" pitchFamily="34" charset="-120"/>
              </a:rPr>
              <a:t>Community structure is preserved across tools</a:t>
            </a:r>
          </a:p>
          <a:p>
            <a:pPr marL="0" indent="0" algn="l">
              <a:buNone/>
            </a:pPr>
            <a:r>
              <a:rPr lang="en-US" dirty="0">
                <a:solidFill>
                  <a:srgbClr val="C49A3F"/>
                </a:solidFill>
                <a:latin typeface="JetBrains Mono" pitchFamily="34" charset="0"/>
                <a:ea typeface="JetBrains Mono" pitchFamily="34" charset="-122"/>
                <a:cs typeface="JetBrains Mono" pitchFamily="34" charset="-120"/>
              </a:rPr>
              <a:t>PC1 r = 0.945 </a:t>
            </a:r>
            <a:r>
              <a:rPr lang="en-US" dirty="0">
                <a:solidFill>
                  <a:srgbClr val="C9D2CC"/>
                </a:solidFill>
                <a:latin typeface="Inter" pitchFamily="34" charset="0"/>
                <a:ea typeface="Inter" pitchFamily="34" charset="-122"/>
                <a:cs typeface="Inter" pitchFamily="34" charset="-120"/>
              </a:rPr>
              <a:t>, Procrustes r = 0.90.</a:t>
            </a:r>
            <a:endParaRPr lang="en-US" dirty="0"/>
          </a:p>
        </p:txBody>
      </p:sp>
      <p:sp>
        <p:nvSpPr>
          <p:cNvPr id="9" name="Shape 7"/>
          <p:cNvSpPr/>
          <p:nvPr/>
        </p:nvSpPr>
        <p:spPr>
          <a:xfrm>
            <a:off x="7991295" y="2826456"/>
            <a:ext cx="9525" cy="2916084"/>
          </a:xfrm>
          <a:prstGeom prst="rect">
            <a:avLst/>
          </a:prstGeom>
          <a:solidFill>
            <a:srgbClr val="2F4438"/>
          </a:solidFill>
          <a:ln/>
        </p:spPr>
        <p:txBody>
          <a:bodyPr/>
          <a:lstStyle/>
          <a:p>
            <a:endParaRPr lang="en-IT" sz="2800"/>
          </a:p>
        </p:txBody>
      </p:sp>
      <p:sp>
        <p:nvSpPr>
          <p:cNvPr id="10" name="Text 8"/>
          <p:cNvSpPr/>
          <p:nvPr/>
        </p:nvSpPr>
        <p:spPr>
          <a:xfrm>
            <a:off x="10810906" y="2683901"/>
            <a:ext cx="1284819" cy="1377621"/>
          </a:xfrm>
          <a:prstGeom prst="rect">
            <a:avLst/>
          </a:prstGeom>
          <a:noFill/>
          <a:ln/>
        </p:spPr>
        <p:txBody>
          <a:bodyPr wrap="square" lIns="25400" tIns="25400" rIns="25400" bIns="25400" rtlCol="0" anchor="t">
            <a:noAutofit/>
          </a:bodyPr>
          <a:lstStyle/>
          <a:p>
            <a:pPr marL="0" indent="0" algn="l">
              <a:lnSpc>
                <a:spcPct val="100000"/>
              </a:lnSpc>
              <a:buNone/>
            </a:pPr>
            <a:r>
              <a:rPr lang="en-US" sz="9600" kern="0" spc="-330" dirty="0">
                <a:solidFill>
                  <a:srgbClr val="C49A3F"/>
                </a:solidFill>
                <a:latin typeface="Fraunces" pitchFamily="34" charset="0"/>
                <a:ea typeface="Fraunces" pitchFamily="34" charset="-122"/>
                <a:cs typeface="Fraunces" pitchFamily="34" charset="-120"/>
              </a:rPr>
              <a:t>02</a:t>
            </a:r>
            <a:endParaRPr lang="en-US" sz="9600" dirty="0"/>
          </a:p>
        </p:txBody>
      </p:sp>
      <p:sp>
        <p:nvSpPr>
          <p:cNvPr id="11" name="Text 9"/>
          <p:cNvSpPr/>
          <p:nvPr/>
        </p:nvSpPr>
        <p:spPr>
          <a:xfrm>
            <a:off x="10810906" y="4158295"/>
            <a:ext cx="1172960" cy="355022"/>
          </a:xfrm>
          <a:prstGeom prst="rect">
            <a:avLst/>
          </a:prstGeom>
          <a:noFill/>
          <a:ln/>
        </p:spPr>
        <p:txBody>
          <a:bodyPr wrap="square" lIns="25400" tIns="25400" rIns="25400" bIns="25400" rtlCol="0" anchor="t">
            <a:noAutofit/>
          </a:bodyPr>
          <a:lstStyle/>
          <a:p>
            <a:pPr marL="0" indent="0" algn="l">
              <a:buNone/>
            </a:pPr>
            <a:r>
              <a:rPr lang="en-US" sz="1600" kern="0" spc="176" dirty="0">
                <a:solidFill>
                  <a:srgbClr val="8FA88F"/>
                </a:solidFill>
                <a:latin typeface="JetBrains Mono" pitchFamily="34" charset="0"/>
                <a:ea typeface="JetBrains Mono" pitchFamily="34" charset="-122"/>
                <a:cs typeface="JetBrains Mono" pitchFamily="34" charset="-120"/>
              </a:rPr>
              <a:t>LOCALLY</a:t>
            </a:r>
            <a:endParaRPr lang="en-US" sz="1600" dirty="0"/>
          </a:p>
        </p:txBody>
      </p:sp>
      <p:sp>
        <p:nvSpPr>
          <p:cNvPr id="12" name="Text 10"/>
          <p:cNvSpPr/>
          <p:nvPr/>
        </p:nvSpPr>
        <p:spPr>
          <a:xfrm>
            <a:off x="10810906" y="4560172"/>
            <a:ext cx="3598933" cy="633873"/>
          </a:xfrm>
          <a:prstGeom prst="rect">
            <a:avLst/>
          </a:prstGeom>
          <a:noFill/>
          <a:ln/>
        </p:spPr>
        <p:txBody>
          <a:bodyPr wrap="square" lIns="25400" tIns="25400" rIns="25400" bIns="25400" rtlCol="0" anchor="t">
            <a:noAutofit/>
          </a:bodyPr>
          <a:lstStyle/>
          <a:p>
            <a:pPr marL="0" indent="0" algn="l">
              <a:lnSpc>
                <a:spcPct val="115000"/>
              </a:lnSpc>
              <a:buNone/>
            </a:pPr>
            <a:r>
              <a:rPr lang="en-US" sz="3600" kern="0" spc="-27" dirty="0">
                <a:solidFill>
                  <a:srgbClr val="F2EFE5"/>
                </a:solidFill>
                <a:latin typeface="Fraunces" pitchFamily="34" charset="0"/>
                <a:ea typeface="Fraunces" pitchFamily="34" charset="-122"/>
                <a:cs typeface="Fraunces" pitchFamily="34" charset="-120"/>
              </a:rPr>
              <a:t>Limited by </a:t>
            </a:r>
            <a:r>
              <a:rPr lang="en-US" sz="3600" i="1" kern="0" spc="-27" dirty="0">
                <a:solidFill>
                  <a:srgbClr val="C49A3F"/>
                </a:solidFill>
                <a:latin typeface="Fraunces" pitchFamily="34" charset="0"/>
                <a:ea typeface="Fraunces" pitchFamily="34" charset="-122"/>
                <a:cs typeface="Fraunces" pitchFamily="34" charset="-120"/>
              </a:rPr>
              <a:t>naming</a:t>
            </a:r>
            <a:endParaRPr lang="en-US" sz="3600" dirty="0"/>
          </a:p>
        </p:txBody>
      </p:sp>
      <p:sp>
        <p:nvSpPr>
          <p:cNvPr id="13" name="Text 11"/>
          <p:cNvSpPr/>
          <p:nvPr/>
        </p:nvSpPr>
        <p:spPr>
          <a:xfrm>
            <a:off x="10810906" y="5183194"/>
            <a:ext cx="6410294" cy="734900"/>
          </a:xfrm>
          <a:prstGeom prst="rect">
            <a:avLst/>
          </a:prstGeom>
          <a:noFill/>
          <a:ln/>
        </p:spPr>
        <p:txBody>
          <a:bodyPr wrap="square" lIns="25400" tIns="25400" rIns="25400" bIns="25400" rtlCol="0" anchor="t">
            <a:noAutofit/>
          </a:bodyPr>
          <a:lstStyle/>
          <a:p>
            <a:pPr marL="0" indent="0" algn="l">
              <a:buNone/>
            </a:pPr>
            <a:r>
              <a:rPr lang="en-US" dirty="0">
                <a:solidFill>
                  <a:srgbClr val="C9D2CC"/>
                </a:solidFill>
                <a:latin typeface="Inter" pitchFamily="34" charset="0"/>
                <a:ea typeface="Inter" pitchFamily="34" charset="-122"/>
                <a:cs typeface="Inter" pitchFamily="34" charset="-120"/>
              </a:rPr>
              <a:t>Per-family agreement is moderate (median ρ = 0.28), </a:t>
            </a:r>
          </a:p>
          <a:p>
            <a:pPr marL="0" indent="0" algn="l">
              <a:buNone/>
            </a:pPr>
            <a:r>
              <a:rPr lang="en-US" dirty="0">
                <a:solidFill>
                  <a:srgbClr val="C9D2CC"/>
                </a:solidFill>
                <a:latin typeface="Inter" pitchFamily="34" charset="0"/>
                <a:ea typeface="Inter" pitchFamily="34" charset="-122"/>
                <a:cs typeface="Inter" pitchFamily="34" charset="-120"/>
              </a:rPr>
              <a:t>but the disagreement is mostly database labels, not biology.</a:t>
            </a:r>
            <a:endParaRPr lang="en-US" dirty="0"/>
          </a:p>
        </p:txBody>
      </p:sp>
      <p:sp>
        <p:nvSpPr>
          <p:cNvPr id="19" name="Shape 17"/>
          <p:cNvSpPr/>
          <p:nvPr/>
        </p:nvSpPr>
        <p:spPr>
          <a:xfrm>
            <a:off x="1047750" y="6943157"/>
            <a:ext cx="16192500" cy="9525"/>
          </a:xfrm>
          <a:prstGeom prst="rect">
            <a:avLst/>
          </a:prstGeom>
          <a:solidFill>
            <a:srgbClr val="2F4438"/>
          </a:solidFill>
          <a:ln/>
        </p:spPr>
        <p:txBody>
          <a:bodyPr/>
          <a:lstStyle/>
          <a:p>
            <a:endParaRPr lang="en-IT"/>
          </a:p>
        </p:txBody>
      </p:sp>
      <p:grpSp>
        <p:nvGrpSpPr>
          <p:cNvPr id="31" name="Group 30">
            <a:extLst>
              <a:ext uri="{FF2B5EF4-FFF2-40B4-BE49-F238E27FC236}">
                <a16:creationId xmlns:a16="http://schemas.microsoft.com/office/drawing/2014/main" id="{5A3FFAB3-6837-5409-0C95-A9E688B6B260}"/>
              </a:ext>
            </a:extLst>
          </p:cNvPr>
          <p:cNvGrpSpPr/>
          <p:nvPr/>
        </p:nvGrpSpPr>
        <p:grpSpPr>
          <a:xfrm>
            <a:off x="1214147" y="7507054"/>
            <a:ext cx="3676650" cy="994055"/>
            <a:chOff x="1047750" y="7768950"/>
            <a:chExt cx="3676650" cy="994055"/>
          </a:xfrm>
        </p:grpSpPr>
        <p:sp>
          <p:nvSpPr>
            <p:cNvPr id="20" name="Text 18"/>
            <p:cNvSpPr/>
            <p:nvPr/>
          </p:nvSpPr>
          <p:spPr>
            <a:xfrm>
              <a:off x="1047750" y="7768950"/>
              <a:ext cx="3676650" cy="305063"/>
            </a:xfrm>
            <a:prstGeom prst="rect">
              <a:avLst/>
            </a:prstGeom>
            <a:noFill/>
            <a:ln/>
          </p:spPr>
          <p:txBody>
            <a:bodyPr wrap="square" lIns="25400" tIns="25400" rIns="25400" bIns="25400" rtlCol="0" anchor="t">
              <a:noAutofit/>
            </a:bodyPr>
            <a:lstStyle/>
            <a:p>
              <a:pPr marL="0" indent="0" algn="r">
                <a:buNone/>
              </a:pPr>
              <a:r>
                <a:rPr lang="en-US" kern="0" spc="176" dirty="0">
                  <a:solidFill>
                    <a:srgbClr val="8FA88F"/>
                  </a:solidFill>
                  <a:latin typeface="JetBrains Mono" pitchFamily="34" charset="0"/>
                  <a:ea typeface="JetBrains Mono" pitchFamily="34" charset="-122"/>
                  <a:cs typeface="JetBrains Mono" pitchFamily="34" charset="-120"/>
                </a:rPr>
                <a:t>OPEN QUESTION · NEXT STEPS</a:t>
              </a:r>
              <a:endParaRPr lang="en-US" dirty="0"/>
            </a:p>
          </p:txBody>
        </p:sp>
        <p:sp>
          <p:nvSpPr>
            <p:cNvPr id="21" name="Text 19"/>
            <p:cNvSpPr/>
            <p:nvPr/>
          </p:nvSpPr>
          <p:spPr>
            <a:xfrm>
              <a:off x="1694841" y="8150496"/>
              <a:ext cx="3029559" cy="612509"/>
            </a:xfrm>
            <a:prstGeom prst="rect">
              <a:avLst/>
            </a:prstGeom>
            <a:noFill/>
            <a:ln/>
          </p:spPr>
          <p:txBody>
            <a:bodyPr wrap="square" lIns="25400" tIns="25400" rIns="25400" bIns="25400" rtlCol="0" anchor="t">
              <a:noAutofit/>
            </a:bodyPr>
            <a:lstStyle/>
            <a:p>
              <a:pPr marL="0" indent="0" algn="r">
                <a:lnSpc>
                  <a:spcPct val="115000"/>
                </a:lnSpc>
                <a:buNone/>
              </a:pPr>
              <a:r>
                <a:rPr lang="en-US" sz="2800" kern="0" spc="-27" dirty="0">
                  <a:solidFill>
                    <a:srgbClr val="F2EFE5"/>
                  </a:solidFill>
                  <a:latin typeface="Fraunces" pitchFamily="34" charset="0"/>
                  <a:ea typeface="Fraunces" pitchFamily="34" charset="-122"/>
                  <a:cs typeface="Fraunces" pitchFamily="34" charset="-120"/>
                </a:rPr>
                <a:t>Which path next?</a:t>
              </a:r>
              <a:endParaRPr lang="en-US" sz="2800" dirty="0"/>
            </a:p>
          </p:txBody>
        </p:sp>
      </p:grpSp>
      <p:sp>
        <p:nvSpPr>
          <p:cNvPr id="22" name="Shape 20"/>
          <p:cNvSpPr/>
          <p:nvPr/>
        </p:nvSpPr>
        <p:spPr>
          <a:xfrm flipV="1">
            <a:off x="5458721" y="7993282"/>
            <a:ext cx="11781529" cy="10800"/>
          </a:xfrm>
          <a:prstGeom prst="rect">
            <a:avLst/>
          </a:prstGeom>
          <a:solidFill>
            <a:srgbClr val="2F4438"/>
          </a:solidFill>
          <a:ln/>
        </p:spPr>
        <p:txBody>
          <a:bodyPr/>
          <a:lstStyle/>
          <a:p>
            <a:endParaRPr lang="en-IT"/>
          </a:p>
        </p:txBody>
      </p:sp>
      <p:grpSp>
        <p:nvGrpSpPr>
          <p:cNvPr id="36" name="Group 35">
            <a:extLst>
              <a:ext uri="{FF2B5EF4-FFF2-40B4-BE49-F238E27FC236}">
                <a16:creationId xmlns:a16="http://schemas.microsoft.com/office/drawing/2014/main" id="{F893D712-FE82-AD24-A1D0-BA1C37B3DD38}"/>
              </a:ext>
            </a:extLst>
          </p:cNvPr>
          <p:cNvGrpSpPr/>
          <p:nvPr/>
        </p:nvGrpSpPr>
        <p:grpSpPr>
          <a:xfrm>
            <a:off x="5458721" y="7321999"/>
            <a:ext cx="7782658" cy="394596"/>
            <a:chOff x="8823613" y="7692759"/>
            <a:chExt cx="7782658" cy="394596"/>
          </a:xfrm>
        </p:grpSpPr>
        <p:grpSp>
          <p:nvGrpSpPr>
            <p:cNvPr id="32" name="Group 31">
              <a:extLst>
                <a:ext uri="{FF2B5EF4-FFF2-40B4-BE49-F238E27FC236}">
                  <a16:creationId xmlns:a16="http://schemas.microsoft.com/office/drawing/2014/main" id="{A6968510-9433-D375-671B-A4EF9D3CEB71}"/>
                </a:ext>
              </a:extLst>
            </p:cNvPr>
            <p:cNvGrpSpPr/>
            <p:nvPr/>
          </p:nvGrpSpPr>
          <p:grpSpPr>
            <a:xfrm>
              <a:off x="8823613" y="7748804"/>
              <a:ext cx="1066934" cy="303907"/>
              <a:chOff x="8823613" y="7748804"/>
              <a:chExt cx="1066934" cy="303907"/>
            </a:xfrm>
          </p:grpSpPr>
          <p:sp>
            <p:nvSpPr>
              <p:cNvPr id="23" name="Shape 21"/>
              <p:cNvSpPr/>
              <p:nvPr/>
            </p:nvSpPr>
            <p:spPr>
              <a:xfrm>
                <a:off x="8823613" y="7748804"/>
                <a:ext cx="1066934" cy="303907"/>
              </a:xfrm>
              <a:prstGeom prst="rect">
                <a:avLst/>
              </a:prstGeom>
              <a:ln w="8659">
                <a:solidFill>
                  <a:srgbClr val="C49A3F"/>
                </a:solidFill>
                <a:prstDash val="solid"/>
              </a:ln>
            </p:spPr>
            <p:txBody>
              <a:bodyPr/>
              <a:lstStyle/>
              <a:p>
                <a:endParaRPr lang="en-IT"/>
              </a:p>
            </p:txBody>
          </p:sp>
          <p:sp>
            <p:nvSpPr>
              <p:cNvPr id="24" name="Text 22"/>
              <p:cNvSpPr/>
              <p:nvPr/>
            </p:nvSpPr>
            <p:spPr>
              <a:xfrm>
                <a:off x="8880407" y="7761483"/>
                <a:ext cx="963025" cy="257148"/>
              </a:xfrm>
              <a:prstGeom prst="rect">
                <a:avLst/>
              </a:prstGeom>
              <a:noFill/>
              <a:ln/>
            </p:spPr>
            <p:txBody>
              <a:bodyPr wrap="square" lIns="25400" tIns="25400" rIns="25400" bIns="25400" rtlCol="0" anchor="t">
                <a:noAutofit/>
              </a:bodyPr>
              <a:lstStyle/>
              <a:p>
                <a:pPr marL="0" indent="0" algn="l">
                  <a:buNone/>
                </a:pPr>
                <a:r>
                  <a:rPr lang="en-US" sz="1400" kern="0" spc="147" dirty="0">
                    <a:solidFill>
                      <a:srgbClr val="C49A3F"/>
                    </a:solidFill>
                    <a:latin typeface="JetBrains Mono" pitchFamily="34" charset="0"/>
                    <a:ea typeface="JetBrains Mono" pitchFamily="34" charset="-122"/>
                    <a:cs typeface="JetBrains Mono" pitchFamily="34" charset="-120"/>
                  </a:rPr>
                  <a:t>OPTION A</a:t>
                </a:r>
                <a:endParaRPr lang="en-US" sz="1400" dirty="0"/>
              </a:p>
            </p:txBody>
          </p:sp>
        </p:grpSp>
        <p:sp>
          <p:nvSpPr>
            <p:cNvPr id="25" name="Text 23"/>
            <p:cNvSpPr/>
            <p:nvPr/>
          </p:nvSpPr>
          <p:spPr>
            <a:xfrm>
              <a:off x="10290450" y="7692759"/>
              <a:ext cx="6315821" cy="394596"/>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F2EFE5"/>
                  </a:solidFill>
                  <a:latin typeface="Fraunces" pitchFamily="34" charset="0"/>
                  <a:ea typeface="Fraunces" pitchFamily="34" charset="-122"/>
                  <a:cs typeface="Fraunces" pitchFamily="34" charset="-120"/>
                </a:rPr>
                <a:t>Search the existing reports for </a:t>
              </a:r>
              <a:r>
                <a:rPr lang="en-US" sz="1800" i="1" dirty="0">
                  <a:solidFill>
                    <a:srgbClr val="C49A3F"/>
                  </a:solidFill>
                  <a:latin typeface="Fraunces" pitchFamily="34" charset="0"/>
                  <a:ea typeface="Fraunces" pitchFamily="34" charset="-122"/>
                  <a:cs typeface="Fraunces" pitchFamily="34" charset="-120"/>
                </a:rPr>
                <a:t>Yersinia pestis </a:t>
              </a:r>
              <a:r>
                <a:rPr lang="en-US" sz="1800" dirty="0">
                  <a:solidFill>
                    <a:srgbClr val="F2EFE5"/>
                  </a:solidFill>
                  <a:latin typeface="Fraunces" pitchFamily="34" charset="0"/>
                  <a:ea typeface="Fraunces" pitchFamily="34" charset="-122"/>
                  <a:cs typeface="Fraunces" pitchFamily="34" charset="-120"/>
                </a:rPr>
                <a:t>&amp; </a:t>
              </a:r>
              <a:r>
                <a:rPr lang="en-US" sz="1800" i="1" dirty="0" err="1">
                  <a:solidFill>
                    <a:srgbClr val="C49A3F"/>
                  </a:solidFill>
                  <a:latin typeface="Fraunces" pitchFamily="34" charset="0"/>
                  <a:ea typeface="Fraunces" pitchFamily="34" charset="-122"/>
                  <a:cs typeface="Fraunces" pitchFamily="34" charset="-120"/>
                </a:rPr>
                <a:t>Tannerella</a:t>
              </a:r>
              <a:r>
                <a:rPr lang="en-US" sz="1800" i="1" dirty="0">
                  <a:solidFill>
                    <a:srgbClr val="C49A3F"/>
                  </a:solidFill>
                  <a:latin typeface="Fraunces" pitchFamily="34" charset="0"/>
                  <a:ea typeface="Fraunces" pitchFamily="34" charset="-122"/>
                  <a:cs typeface="Fraunces" pitchFamily="34" charset="-120"/>
                </a:rPr>
                <a:t> forsythia</a:t>
              </a:r>
              <a:endParaRPr lang="en-US" sz="1800" dirty="0"/>
            </a:p>
          </p:txBody>
        </p:sp>
      </p:grpSp>
      <p:sp>
        <p:nvSpPr>
          <p:cNvPr id="29" name="Text 27"/>
          <p:cNvSpPr/>
          <p:nvPr/>
        </p:nvSpPr>
        <p:spPr>
          <a:xfrm>
            <a:off x="762000" y="9626338"/>
            <a:ext cx="3315309" cy="241589"/>
          </a:xfrm>
          <a:prstGeom prst="rect">
            <a:avLst/>
          </a:prstGeom>
          <a:noFill/>
          <a:ln/>
        </p:spPr>
        <p:txBody>
          <a:bodyPr wrap="square" lIns="25400" tIns="25400" rIns="25400" bIns="25400" rtlCol="0" anchor="t">
            <a:normAutofit/>
          </a:bodyPr>
          <a:lstStyle/>
          <a:p>
            <a:pPr marL="0" indent="0" algn="l">
              <a:buNone/>
            </a:pPr>
            <a:r>
              <a:rPr lang="en-US" sz="1200" kern="0" spc="48" dirty="0">
                <a:solidFill>
                  <a:srgbClr val="97A89C"/>
                </a:solidFill>
                <a:latin typeface="JetBrains Mono" pitchFamily="34" charset="0"/>
                <a:ea typeface="JetBrains Mono" pitchFamily="34" charset="-122"/>
                <a:cs typeface="JetBrains Mono" pitchFamily="34" charset="-120"/>
              </a:rPr>
              <a:t>Mariagiulia Martinelli · CPG 2026</a:t>
            </a:r>
            <a:endParaRPr lang="en-US" sz="1200" dirty="0"/>
          </a:p>
        </p:txBody>
      </p:sp>
      <p:grpSp>
        <p:nvGrpSpPr>
          <p:cNvPr id="37" name="Group 36">
            <a:extLst>
              <a:ext uri="{FF2B5EF4-FFF2-40B4-BE49-F238E27FC236}">
                <a16:creationId xmlns:a16="http://schemas.microsoft.com/office/drawing/2014/main" id="{24DFE6A1-A4E7-59FE-0D72-A050A1B4D9EF}"/>
              </a:ext>
            </a:extLst>
          </p:cNvPr>
          <p:cNvGrpSpPr/>
          <p:nvPr/>
        </p:nvGrpSpPr>
        <p:grpSpPr>
          <a:xfrm>
            <a:off x="5458721" y="8238122"/>
            <a:ext cx="10160886" cy="436514"/>
            <a:chOff x="8816583" y="8677012"/>
            <a:chExt cx="10160886" cy="436514"/>
          </a:xfrm>
        </p:grpSpPr>
        <p:sp>
          <p:nvSpPr>
            <p:cNvPr id="28" name="Text 26"/>
            <p:cNvSpPr/>
            <p:nvPr/>
          </p:nvSpPr>
          <p:spPr>
            <a:xfrm>
              <a:off x="10290450" y="8677012"/>
              <a:ext cx="8687019" cy="436514"/>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F2EFE5"/>
                  </a:solidFill>
                  <a:latin typeface="Fraunces" pitchFamily="34" charset="0"/>
                  <a:ea typeface="Fraunces" pitchFamily="34" charset="-122"/>
                  <a:cs typeface="Fraunces" pitchFamily="34" charset="-120"/>
                </a:rPr>
                <a:t>First aggregate to </a:t>
              </a:r>
              <a:r>
                <a:rPr lang="en-US" sz="1800" i="1" dirty="0">
                  <a:solidFill>
                    <a:srgbClr val="C49A3F"/>
                  </a:solidFill>
                  <a:latin typeface="Fraunces" pitchFamily="34" charset="0"/>
                  <a:ea typeface="Fraunces" pitchFamily="34" charset="-122"/>
                  <a:cs typeface="Fraunces" pitchFamily="34" charset="-120"/>
                </a:rPr>
                <a:t>Phylum </a:t>
              </a:r>
              <a:r>
                <a:rPr lang="en-US" sz="1800" dirty="0">
                  <a:solidFill>
                    <a:srgbClr val="F2EFE5"/>
                  </a:solidFill>
                  <a:latin typeface="Fraunces" pitchFamily="34" charset="0"/>
                  <a:ea typeface="Fraunces" pitchFamily="34" charset="-122"/>
                  <a:cs typeface="Fraunces" pitchFamily="34" charset="-120"/>
                </a:rPr>
                <a:t>level: check whether per-family disagreement was just a resolution issue</a:t>
              </a:r>
              <a:endParaRPr lang="en-US" sz="1800" dirty="0"/>
            </a:p>
          </p:txBody>
        </p:sp>
        <p:grpSp>
          <p:nvGrpSpPr>
            <p:cNvPr id="33" name="Group 32">
              <a:extLst>
                <a:ext uri="{FF2B5EF4-FFF2-40B4-BE49-F238E27FC236}">
                  <a16:creationId xmlns:a16="http://schemas.microsoft.com/office/drawing/2014/main" id="{30B9BACE-FD75-AB12-0E08-ABED61E2CB93}"/>
                </a:ext>
              </a:extLst>
            </p:cNvPr>
            <p:cNvGrpSpPr/>
            <p:nvPr/>
          </p:nvGrpSpPr>
          <p:grpSpPr>
            <a:xfrm>
              <a:off x="8816583" y="8754016"/>
              <a:ext cx="1066934" cy="303907"/>
              <a:chOff x="8823613" y="7748804"/>
              <a:chExt cx="1066934" cy="303907"/>
            </a:xfrm>
          </p:grpSpPr>
          <p:sp>
            <p:nvSpPr>
              <p:cNvPr id="34" name="Shape 21">
                <a:extLst>
                  <a:ext uri="{FF2B5EF4-FFF2-40B4-BE49-F238E27FC236}">
                    <a16:creationId xmlns:a16="http://schemas.microsoft.com/office/drawing/2014/main" id="{03EBE9F3-D5E4-AA62-EFC4-FCB08395ACD9}"/>
                  </a:ext>
                </a:extLst>
              </p:cNvPr>
              <p:cNvSpPr/>
              <p:nvPr/>
            </p:nvSpPr>
            <p:spPr>
              <a:xfrm>
                <a:off x="8823613" y="7748804"/>
                <a:ext cx="1066934" cy="303907"/>
              </a:xfrm>
              <a:prstGeom prst="rect">
                <a:avLst/>
              </a:prstGeom>
              <a:ln w="8659">
                <a:solidFill>
                  <a:srgbClr val="C49A3F"/>
                </a:solidFill>
                <a:prstDash val="solid"/>
              </a:ln>
            </p:spPr>
            <p:txBody>
              <a:bodyPr/>
              <a:lstStyle/>
              <a:p>
                <a:endParaRPr lang="en-IT"/>
              </a:p>
            </p:txBody>
          </p:sp>
          <p:sp>
            <p:nvSpPr>
              <p:cNvPr id="35" name="Text 22">
                <a:extLst>
                  <a:ext uri="{FF2B5EF4-FFF2-40B4-BE49-F238E27FC236}">
                    <a16:creationId xmlns:a16="http://schemas.microsoft.com/office/drawing/2014/main" id="{34A04D66-187E-83ED-66B9-2DA26FDCCAFC}"/>
                  </a:ext>
                </a:extLst>
              </p:cNvPr>
              <p:cNvSpPr/>
              <p:nvPr/>
            </p:nvSpPr>
            <p:spPr>
              <a:xfrm>
                <a:off x="8880407" y="7761483"/>
                <a:ext cx="963025" cy="257148"/>
              </a:xfrm>
              <a:prstGeom prst="rect">
                <a:avLst/>
              </a:prstGeom>
              <a:noFill/>
              <a:ln/>
            </p:spPr>
            <p:txBody>
              <a:bodyPr wrap="square" lIns="25400" tIns="25400" rIns="25400" bIns="25400" rtlCol="0" anchor="t">
                <a:noAutofit/>
              </a:bodyPr>
              <a:lstStyle/>
              <a:p>
                <a:pPr marL="0" indent="0" algn="l">
                  <a:buNone/>
                </a:pPr>
                <a:r>
                  <a:rPr lang="en-US" sz="1400" kern="0" spc="147" dirty="0">
                    <a:solidFill>
                      <a:srgbClr val="C49A3F"/>
                    </a:solidFill>
                    <a:latin typeface="JetBrains Mono" pitchFamily="34" charset="0"/>
                    <a:ea typeface="JetBrains Mono" pitchFamily="34" charset="-122"/>
                    <a:cs typeface="JetBrains Mono" pitchFamily="34" charset="-120"/>
                  </a:rPr>
                  <a:t>OPTION B</a:t>
                </a:r>
                <a:endParaRPr lang="en-US" sz="1400" dirty="0"/>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dissolve">
                                      <p:cBhvr>
                                        <p:cTn id="24" dur="500"/>
                                        <p:tgtEl>
                                          <p:spTgt spid="10"/>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dissolv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up)">
                                      <p:cBhvr>
                                        <p:cTn id="38" dur="500"/>
                                        <p:tgtEl>
                                          <p:spTgt spid="19"/>
                                        </p:tgtEl>
                                      </p:cBhvr>
                                    </p:animEffect>
                                  </p:childTnLst>
                                </p:cTn>
                              </p:par>
                              <p:par>
                                <p:cTn id="39" presetID="22" presetClass="entr" presetSubtype="1"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up)">
                                      <p:cBhvr>
                                        <p:cTn id="41" dur="500"/>
                                        <p:tgtEl>
                                          <p:spTgt spid="31"/>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up)">
                                      <p:cBhvr>
                                        <p:cTn id="44" dur="500"/>
                                        <p:tgtEl>
                                          <p:spTgt spid="22"/>
                                        </p:tgtEl>
                                      </p:cBhvr>
                                    </p:animEffect>
                                  </p:childTnLst>
                                </p:cTn>
                              </p:par>
                              <p:par>
                                <p:cTn id="45" presetID="22" presetClass="entr" presetSubtype="1"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up)">
                                      <p:cBhvr>
                                        <p:cTn id="47" dur="500"/>
                                        <p:tgtEl>
                                          <p:spTgt spid="36"/>
                                        </p:tgtEl>
                                      </p:cBhvr>
                                    </p:animEffect>
                                  </p:childTnLst>
                                </p:cTn>
                              </p:par>
                              <p:par>
                                <p:cTn id="48" presetID="22" presetClass="entr" presetSubtype="1" fill="hold"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wipe(up)">
                                      <p:cBhvr>
                                        <p:cTn id="5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9" grpId="0" animBg="1"/>
      <p:bldP spid="2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1599</Words>
  <Application>Microsoft Macintosh PowerPoint</Application>
  <PresentationFormat>Custom</PresentationFormat>
  <Paragraphs>169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Fraunces</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Mariagiulia Martinelli</cp:lastModifiedBy>
  <cp:revision>22</cp:revision>
  <dcterms:created xsi:type="dcterms:W3CDTF">2026-05-02T13:50:37Z</dcterms:created>
  <dcterms:modified xsi:type="dcterms:W3CDTF">2026-05-05T10:47:04Z</dcterms:modified>
</cp:coreProperties>
</file>